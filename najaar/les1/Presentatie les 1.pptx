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SLIDES_API81491543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SLIDES_API81491543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WELKOM &amp; OPENING: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- Welkom allemaal bij de eerste les van 'Aan de slag met AI'!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- De opzet van vandaag: de eerste helft (ca. 40 min) gebruiken we om het mysterie van AI te ontrafelen. Geen moeilijke wiskunde, maar heldere intuïtie over hoe deze technologie werkt.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- De tweede helft van de les gaan we zelf achter de knoppen zitten: hands-on prompten met ChatGPT, Copilot en Gemini.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- Vraag gerust tussendoor als iets onduidelijk is!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SLIDES_API81491543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SLIDES_API81491543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DOCENT INTRODUCTIE: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- Even kort iets over mijn eigen achtergrond: opgeleid in wiskunde, natuurkunde en gepromoveerd in informatica.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- Gewerkt bij Philips Research en jarenlang bij Defensie en het hoger onderwijs.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- Ik volg de ontwikkelingen rond AI al vanaf de academische begintijd in de jaren '80. Wat er de afgelopen twee à drie jaar gebeurt, is absoluut uniek.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SLIDES_API81491543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SLIDES_API81491543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DE DROOM VAN DE MENSHEID: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- De wens om menselijke intelligentie na te bootsen is niet nieuw; het zit al duizenden jaren in onze verhalen.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- Denk aan Talos uit de Griekse mythologie, of HAL 9000 uit Stanley Kubrick's meesterwerk.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- In Star Trek sprak Captain Kirk tegen de 'Computer', en die gaf direct zinnig antwoord. Nu praten we tegen Gemini of ChatGPT.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SLIDES_API81491543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SLIDES_API81491543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DE EXPLOSIE VAN DE LAATSTE JAREN: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- Waarom is AI ineens overal in het nieuws?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- Vroeger moest je programmeren om een computer iets nieuws te laten doen. Nu praat je gewoon tegen een model zoals je tegen een stagiair of collega zou praten.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- De vraag die iedereen bezighoudt: Hoe kan dit zomaar ineens?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SLIDES_API814915431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SLIDES_API81491543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WAT IS INTELLIGENTIE?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- Vraag aan de zaal: wat vinden jullie moeilijker? Deze vermenigvuldiging uit het hoofd, of een kat herkennen op een korrelige foto?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- Dit heet in de informatica 'Moravec's Paradox': wat rationeel moeilijk lijkt is simpel voor computers, wat voor ons automatisch gaat vereist de zwaarste AI.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SLIDES_API814915431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SLIDES_API814915431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DE GROTE STROMINGEN: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- Deep Blue rekende 200 miljoen stellingen per seconde uit. Maar alle schaakkennis was er door meesters ingestopt.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- De ommekeer kwam toen wetenschappers zeiden: laten we ophouden met regels verzinnen, laten we de computer zélf laten leren zoals een kind leert.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SLIDES_API814915431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SLIDES_API814915431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DE BIOLOGISCHE ANALOGIE: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- Kijk hoe een kind leert praten en kijken. Niet uit een regelboek, maar door duizenden voorbeelden en feedback.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- Het brein past ongemerkt zijn interne verbindingen aan. Dát principe wilden we in software nabootsen.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SLIDES_API814915431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SLIDES_API814915431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NEURAAL NETWERK IN SOFTWARE: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- Een neuraal netwerk is geen fysieke robotkop; het is zuivere software en wiskunde.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- Een knooppunt vermenigvuldigt binnenkomende getallen met hun gewichten, telt ze op en geeft het resultaat door.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- De kunst is: hoe krijgen we de júiste gewichten?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SLIDES_API814915431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SLIDES_API814915431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HET PTT VOORBEELD: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- In de jaren '80 deed de PTT baanbrekend werk voor postcodes.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- 5.280 regels en kenmerken werden met de hand bedacht!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- Indrukwekkend monnikenwerk, maar vreselijk star: voor elke uitzondering moest er weer een regel bij.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SLIDES_API814915431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SLIDES_API814915431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DE NEURALE AANPAK: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- We programmeren géén regels over wat een rondje of lijn is.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- We stoppen er puur de 784 grijswaarden in.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- Aan de achterkant hebben we 10 uitgangen (voor 0 t/m 9).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- Hoe weet het netwerk welke uitgang moet oplichten? Dat gebeurt via training!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SLIDES_API814915431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SLIDES_API814915431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BACKPROPAGATION UITGELEGD: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- Dit is het magische recept: Backpropagation.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- Het netwerk begint dom en gokt.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- Elke keer dat het ernaast zit, rekenen we wiskundig uit welke gewichten bijgesteld moeten worden.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- Na tienduizenden voorbeelden herkent het netwerk handschriften feilloos.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SLIDES_API814915431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SLIDES_API814915431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DE TUSSENSTAPPEN: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- Het principe van cijferherkennen werd op steeds grotere schaal toegepast.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- Eerst gezichten en kentekens, daarna gesproken geluid.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- Maar het échte begrijpen van complexe taal bleef een enorm struikelblok.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SLIDES_API814915431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SLIDES_API814915431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DE REVOLUTIE VAN DE TRANSFORMER: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- Waarom kon vertaalsoftware vroeger zulke kromme zinnen maken, en nu ineens vloeiend Nederlands schrijven?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- Dat komt door de Transformer (Google, 2017).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- Het model kijkt niet woord voor woord, maar ziet het hele document in één keer en weegt alle relaties af.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SLIDES_API814915431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SLIDES_API814915431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HOE EEN LLM WERKT: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- In de basis voorspelt een LLM het meest waarschijnlijke volgende woord.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- Omdat het getraind is op vrijwel alle kennis van het internet, levert dat verbluffend intelligente antwoorden op.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- Het leert betekenis via wiskundige vectoren.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SLIDES_API814915431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SLIDES_API814915431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HET BELANGRIJKSTE INZICHT VOOR DE CURSIST: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- AI zoekt niet in een archiefkast met feiten.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- Het weet niet wat waarheid is; het weet alleen wat taalkundig aannemelijk klinkt.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- Daarom hallucineert AI soms. Blijf belangrijke feiten altijd zelf verifiëren!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SLIDES_API814915431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SLIDES_API814915431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DE OPVOEDING VAN DE AI (RLHF):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- Waarom praat ChatGPT zo vriendelijk tegen je?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- Dat komt door stap 2: Fine-Tuning met Reinforcement Learning from Human Feedback.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- Daarmee is het ruwe model 'opgevoed' tot een behulpzame assistent.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SLIDES_API814915431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SLIDES_API814915431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MULTIMODAAL &amp; REDENEREN: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- De ontwikkelingen staan niet stil.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- We kunnen nu foto's uploaden en live praten.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- En de allernieuwste modellen controleren eerst hun eigen tussenstappen voor wiskunde en logica.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SLIDES_API814915431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SLIDES_API814915431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DE GROTE WETENSCHAPPELIJKE DOORBRAKEN: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- AI is meer dan een leuke chatbot.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- Met AlphaFold ontrafelde DeepMind een van de grootste mysteries uit de biologie.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- Wat wetenschappers decennia kostte, berekent AI nu in minuten. Terecht bekroond met de Nobelprijs in 2024!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SLIDES_API814915431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SLIDES_API814915431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DE 3 GOUDEN REGELS: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- Hiermee slaan we de brug naar het praktische deel van vandaag.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- Regel 1: Controleer de feiten.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- Regel 2: Context is koning. Een goede prompt maakt het verschil tussen een standaardtekst en een meesterwerk.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- Regel 3: Jij bent en blijft de regisseur. AI doet het voorbereidende werk, jij hakt de knopen door.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SLIDES_API814915431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SLIDES_API814915431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OVERGANG NAAR HANDS-ON: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- Tijd om de theorie achter ons te laten en het zelf te gaan ervaren!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- Iedereen mag de laptop of tablet openklappen.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- Ga naar chatgpt.com, gemini.google.com of copilot.microsoft.com.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- We beginnen rustig met oefening 1 op het scherm.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SLIDES_API81308211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SLIDES_API8130821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DE GROTE VIER VERGELEKEN: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- Iedereen kent ChatGPT, maar het loont enorm om te weten welke tool waarin uitblinkt.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- Als je een heel dik rapport of een video van een uur wilt samenvatten: kies Gemini.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- Als je een gevoelige brief of beleidstekst wilt die écht als prachtig Nederlands moet klinken: kies Claude.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- Als je in Word of Excel zit: kies Copilot.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- En voor het dagelijkse sparren en brainstormen: ChatGPT blijft de vertrouwde allrounder.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SLIDES_API813082112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SLIDES_API81308211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NOTEBOOKLM UITGELEGD: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- Dit is voor veel mensen een absolute openbaring.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- Normale AI verzint soms dingen als het het antwoord niet weet. NotebookLM doet dat NIET: het baseert zich strikt op jouw geüploade documenten.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- Ideaal voor verenigingsbestuurders (statuten, notulen), intakegesprekken samenvatten, of dikke rapporten doorzoeken.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- Tip: laat na afloop even kort de Audio Overview horen als je tijd hebt, de zaal vindt dat altijd fantastisch!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SLIDES_API813082112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SLIDES_API813082112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AI AGENTS UITGELEGD: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- In de intake vroeg Arie: 'Hoe kan AI een website voor me bouwen?' Dit is het antwoord!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- Waar we nu zitten is 'chatten': vraag en antwoord.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- De volgende golf zijn 'Agents': je geeft ze een taak, en ze gaan zelfstandig aan de slag. Ze openen bestanden, schrijven de code, testen of de knoppen werken, en lossen hun eigen fouten op.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- Je hoeft straks geen programmeur meer te zijn; je moet de AI kunnen aansturen als een projectleider.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SLIDES_API813082112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SLIDES_API813082112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DE RCTK-FORMULE: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- Cursisten vragen vaak: waarom krijg ik van ChatGPT van die saaie, algemene antwoorden?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- Omdat je een algemene vraag stelt!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- Onthoud RCTK: Rol, Context, Taak, Kaders.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- Vooral de 'K' van Kaders (beperkingen: lengte, toon, doelgroep) maakt het verschil tussen een 6-min en een 9-plus tekst.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SLIDES_API813082112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SLIDES_API813082112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OEFENINGEN BEGELEIDEN: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- Iedereen mag nu aan de slag!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- Loop rond in de zaal: help mensen die nog moeten inloggen (Google/Microsoft account werkt meestal direct).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- Voor tabletgebruikers: wijs op het microfoontje op het virtuele toetsenbord om prompts in te spreken!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- Na 25 minuten bespreken we plenair een paar mooie resultaten.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508000" y="571500"/>
            <a:ext cx="57150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100">
                <a:solidFill>
                  <a:srgbClr val="38BDF8"/>
                </a:solidFill>
              </a:rPr>
              <a:t>✨ AAN DE SLAG MET AI • LES 1 (DEEL 1)</a:t>
            </a:r>
            <a:endParaRPr b="1" sz="1100">
              <a:solidFill>
                <a:srgbClr val="38BDF8"/>
              </a:solidFill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508000" y="952500"/>
            <a:ext cx="8127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4400">
                <a:solidFill>
                  <a:srgbClr val="FFFFFF"/>
                </a:solidFill>
              </a:rPr>
              <a:t>Artificiële Intelligentie</a:t>
            </a:r>
            <a:endParaRPr b="1" sz="4400">
              <a:solidFill>
                <a:srgbClr val="FFFFFF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508000" y="2095500"/>
            <a:ext cx="81279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solidFill>
                  <a:srgbClr val="94A3B8"/>
                </a:solidFill>
              </a:rPr>
              <a:t>Wat is AI en hoe werkt het écht? • Van wiskundig fundament naar dagelijkse assistent</a:t>
            </a:r>
            <a:endParaRPr>
              <a:solidFill>
                <a:srgbClr val="94A3B8"/>
              </a:solidFill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508000" y="3048000"/>
            <a:ext cx="2540100" cy="15240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300">
                <a:solidFill>
                  <a:srgbClr val="FFFFFF"/>
                </a:solidFill>
              </a:rPr>
              <a:t>🏛️ De Oorsprong</a:t>
            </a:r>
            <a:endParaRPr b="1" sz="13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Hoe 70 jaar wiskunde leidde tot de huidige doorbraak.</a:t>
            </a:r>
            <a:endParaRPr sz="1100">
              <a:solidFill>
                <a:srgbClr val="CBD5E1"/>
              </a:solidFill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3302000" y="3048000"/>
            <a:ext cx="2540100" cy="15240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300">
                <a:solidFill>
                  <a:srgbClr val="FFFFFF"/>
                </a:solidFill>
              </a:rPr>
              <a:t>🧠 Hoe Werkt Het?</a:t>
            </a:r>
            <a:endParaRPr b="1" sz="13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Neurale netwerken en grote taalmodellen ontrafeld.</a:t>
            </a:r>
            <a:endParaRPr sz="1100">
              <a:solidFill>
                <a:srgbClr val="CBD5E1"/>
              </a:solidFill>
            </a:endParaRPr>
          </a:p>
        </p:txBody>
      </p:sp>
      <p:sp>
        <p:nvSpPr>
          <p:cNvPr id="59" name="Google Shape;59;p13"/>
          <p:cNvSpPr/>
          <p:nvPr/>
        </p:nvSpPr>
        <p:spPr>
          <a:xfrm>
            <a:off x="6096000" y="3048000"/>
            <a:ext cx="2540100" cy="15240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300">
                <a:solidFill>
                  <a:srgbClr val="FFFFFF"/>
                </a:solidFill>
              </a:rPr>
              <a:t>🚀 Naar de Praktijk</a:t>
            </a:r>
            <a:endParaRPr b="1" sz="13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De 3 gouden regels voor effectief en betrouwbaar gebruik.</a:t>
            </a:r>
            <a:endParaRPr sz="1100">
              <a:solidFill>
                <a:srgbClr val="CBD5E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/>
        </p:nvSpPr>
        <p:spPr>
          <a:xfrm>
            <a:off x="508000" y="381000"/>
            <a:ext cx="50799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100">
                <a:solidFill>
                  <a:srgbClr val="38BDF8"/>
                </a:solidFill>
              </a:rPr>
              <a:t>👨‍🏫 JE DOCENT</a:t>
            </a:r>
            <a:endParaRPr b="1" sz="1100">
              <a:solidFill>
                <a:srgbClr val="38BDF8"/>
              </a:solidFill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508000" y="698500"/>
            <a:ext cx="81279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3400">
                <a:solidFill>
                  <a:srgbClr val="FFFFFF"/>
                </a:solidFill>
              </a:rPr>
              <a:t>Wie ben ik?</a:t>
            </a:r>
            <a:endParaRPr b="1" sz="3400">
              <a:solidFill>
                <a:srgbClr val="FFFFFF"/>
              </a:solidFill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508000" y="1460500"/>
            <a:ext cx="4698900" cy="14604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300">
                <a:solidFill>
                  <a:srgbClr val="FFFFFF"/>
                </a:solidFill>
              </a:rPr>
              <a:t>🎓 Opleiding &amp; Achtergrond</a:t>
            </a:r>
            <a:endParaRPr b="1" sz="13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• Studie Wiskunde en Natuurkunde (UvA)</a:t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• Promotie in de Informatica aan de Radboud Universiteit</a:t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• Passie voor complexe technologie vertalen naar de praktijk</a:t>
            </a:r>
            <a:endParaRPr sz="1100">
              <a:solidFill>
                <a:srgbClr val="CBD5E1"/>
              </a:solidFill>
            </a:endParaRPr>
          </a:p>
        </p:txBody>
      </p:sp>
      <p:sp>
        <p:nvSpPr>
          <p:cNvPr id="67" name="Google Shape;67;p14"/>
          <p:cNvSpPr/>
          <p:nvPr/>
        </p:nvSpPr>
        <p:spPr>
          <a:xfrm>
            <a:off x="508000" y="3048000"/>
            <a:ext cx="4698900" cy="14604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300">
                <a:solidFill>
                  <a:srgbClr val="FFFFFF"/>
                </a:solidFill>
              </a:rPr>
              <a:t>💼 Werkervaring</a:t>
            </a:r>
            <a:endParaRPr b="1" sz="13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• Philips Research &amp; Hoger Onderwijs (NHL)</a:t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• Defensie Maritieme IT &amp; Defensie Academie (NLDA)</a:t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• Bestuurslid &amp; docent Helderse Volksuniversiteit</a:t>
            </a:r>
            <a:endParaRPr sz="1100">
              <a:solidFill>
                <a:srgbClr val="CBD5E1"/>
              </a:solidFill>
            </a:endParaRPr>
          </a:p>
        </p:txBody>
      </p:sp>
      <p:sp>
        <p:nvSpPr>
          <p:cNvPr id="68" name="Google Shape;68;p14"/>
          <p:cNvSpPr/>
          <p:nvPr/>
        </p:nvSpPr>
        <p:spPr>
          <a:xfrm>
            <a:off x="5461000" y="1460500"/>
            <a:ext cx="3174900" cy="30480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2600" y="1571752"/>
            <a:ext cx="2971800" cy="2825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/>
        </p:nvSpPr>
        <p:spPr>
          <a:xfrm>
            <a:off x="508000" y="381000"/>
            <a:ext cx="50799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100">
                <a:solidFill>
                  <a:srgbClr val="C084FC"/>
                </a:solidFill>
              </a:rPr>
              <a:t>🚀 DE EEUWENOUDE DROOM</a:t>
            </a:r>
            <a:endParaRPr b="1" sz="1100">
              <a:solidFill>
                <a:srgbClr val="C084FC"/>
              </a:solidFill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508000" y="698500"/>
            <a:ext cx="81279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3400">
                <a:solidFill>
                  <a:srgbClr val="FFFFFF"/>
                </a:solidFill>
              </a:rPr>
              <a:t>Fascinatie voor Denkende Machines</a:t>
            </a:r>
            <a:endParaRPr b="1" sz="3400">
              <a:solidFill>
                <a:srgbClr val="FFFFFF"/>
              </a:solidFill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508000" y="1460500"/>
            <a:ext cx="4698900" cy="17781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300">
                <a:solidFill>
                  <a:srgbClr val="FFFFFF"/>
                </a:solidFill>
              </a:rPr>
              <a:t>🏛️ Mythes &amp; Verhalen</a:t>
            </a:r>
            <a:endParaRPr b="1" sz="13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• Oude Grieken: Talos, de mechanische bronzen reus</a:t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• Archie de man van staal &amp; pratende robots in vroege strips</a:t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• HAL 9000 (2001 Space Odyssey) &amp; Star Trek boordcomputer</a:t>
            </a:r>
            <a:endParaRPr sz="1100">
              <a:solidFill>
                <a:srgbClr val="CBD5E1"/>
              </a:solidFill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508000" y="3365500"/>
            <a:ext cx="4698900" cy="11430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90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200">
                <a:solidFill>
                  <a:srgbClr val="38BDF8"/>
                </a:solidFill>
              </a:rPr>
              <a:t>💡 Vroeger toekomstmuziek, nu werkelijkheid</a:t>
            </a:r>
            <a:endParaRPr b="1" sz="1200">
              <a:solidFill>
                <a:srgbClr val="38BDF8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Wat decennialang pure sciencefiction leek, zit nu gewoon gratis als app in onze broekzak.</a:t>
            </a:r>
            <a:endParaRPr sz="1100">
              <a:solidFill>
                <a:srgbClr val="CBD5E1"/>
              </a:solidFill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5461000" y="1460500"/>
            <a:ext cx="3174900" cy="30480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9" name="Google Shape;7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6100" y="1562100"/>
            <a:ext cx="2844800" cy="284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/>
        </p:nvSpPr>
        <p:spPr>
          <a:xfrm>
            <a:off x="508000" y="381000"/>
            <a:ext cx="50799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100">
                <a:solidFill>
                  <a:srgbClr val="FBBF24"/>
                </a:solidFill>
              </a:rPr>
              <a:t>⚡ EEN WERELD DIE VERANDERT</a:t>
            </a:r>
            <a:endParaRPr b="1" sz="1100">
              <a:solidFill>
                <a:srgbClr val="FBBF24"/>
              </a:solidFill>
            </a:endParaRPr>
          </a:p>
        </p:txBody>
      </p:sp>
      <p:sp>
        <p:nvSpPr>
          <p:cNvPr id="85" name="Google Shape;85;p16"/>
          <p:cNvSpPr txBox="1"/>
          <p:nvPr/>
        </p:nvSpPr>
        <p:spPr>
          <a:xfrm>
            <a:off x="508000" y="698500"/>
            <a:ext cx="81279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3400">
                <a:solidFill>
                  <a:srgbClr val="FFFFFF"/>
                </a:solidFill>
              </a:rPr>
              <a:t>Wat is er aan de hand?</a:t>
            </a:r>
            <a:endParaRPr b="1" sz="3400">
              <a:solidFill>
                <a:srgbClr val="FFFFFF"/>
              </a:solidFill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508000" y="1460500"/>
            <a:ext cx="4698900" cy="8256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300">
                <a:solidFill>
                  <a:srgbClr val="FFFFFF"/>
                </a:solidFill>
              </a:rPr>
              <a:t>🔥 Explosie van tools: </a:t>
            </a:r>
            <a:r>
              <a:rPr lang="nl" sz="1200">
                <a:solidFill>
                  <a:srgbClr val="CBD5E1"/>
                </a:solidFill>
              </a:rPr>
              <a:t>ChatGPT, Google Gemini, Copilot, Claude &amp; Perplexity.</a:t>
            </a:r>
            <a:endParaRPr sz="1200">
              <a:solidFill>
                <a:srgbClr val="CBD5E1"/>
              </a:solidFill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508000" y="2413000"/>
            <a:ext cx="4698900" cy="8256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300">
                <a:solidFill>
                  <a:srgbClr val="FFFFFF"/>
                </a:solidFill>
              </a:rPr>
              <a:t>🗣️ Gewone mensentaal: </a:t>
            </a:r>
            <a:r>
              <a:rPr lang="nl" sz="1200">
                <a:solidFill>
                  <a:srgbClr val="CBD5E1"/>
                </a:solidFill>
              </a:rPr>
              <a:t>Geen formules of code meer: typ of spreek gewoon Nederlands.</a:t>
            </a:r>
            <a:endParaRPr sz="1200">
              <a:solidFill>
                <a:srgbClr val="CBD5E1"/>
              </a:solidFill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508000" y="3365500"/>
            <a:ext cx="4698900" cy="11430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90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200">
                <a:solidFill>
                  <a:srgbClr val="38BDF8"/>
                </a:solidFill>
              </a:rPr>
              <a:t>🤔 Hype of Revolutie?</a:t>
            </a:r>
            <a:endParaRPr b="1" sz="1200">
              <a:solidFill>
                <a:srgbClr val="38BDF8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Brieven schrijven, stukken samenvatten, beelden maken en vertalen. Hoe kan dit zomaar ineens?</a:t>
            </a:r>
            <a:endParaRPr sz="1100">
              <a:solidFill>
                <a:srgbClr val="CBD5E1"/>
              </a:solidFill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5461000" y="1460500"/>
            <a:ext cx="3174900" cy="30480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0" name="Google Shape;9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2600" y="2150110"/>
            <a:ext cx="2971800" cy="16687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/>
        </p:nvSpPr>
        <p:spPr>
          <a:xfrm>
            <a:off x="508000" y="381000"/>
            <a:ext cx="50799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100">
                <a:solidFill>
                  <a:srgbClr val="C084FC"/>
                </a:solidFill>
              </a:rPr>
              <a:t>🧠 INTUÏTIE VS REKENKRACHT</a:t>
            </a:r>
            <a:endParaRPr b="1" sz="1100">
              <a:solidFill>
                <a:srgbClr val="C084FC"/>
              </a:solidFill>
            </a:endParaRPr>
          </a:p>
        </p:txBody>
      </p:sp>
      <p:sp>
        <p:nvSpPr>
          <p:cNvPr id="96" name="Google Shape;96;p17"/>
          <p:cNvSpPr txBox="1"/>
          <p:nvPr/>
        </p:nvSpPr>
        <p:spPr>
          <a:xfrm>
            <a:off x="508000" y="698500"/>
            <a:ext cx="81279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3400">
                <a:solidFill>
                  <a:srgbClr val="FFFFFF"/>
                </a:solidFill>
              </a:rPr>
              <a:t>Wat is Intelligentie eigenlijk?</a:t>
            </a:r>
            <a:endParaRPr b="1" sz="3400">
              <a:solidFill>
                <a:srgbClr val="FFFFFF"/>
              </a:solidFill>
            </a:endParaRPr>
          </a:p>
        </p:txBody>
      </p:sp>
      <p:sp>
        <p:nvSpPr>
          <p:cNvPr id="97" name="Google Shape;97;p17"/>
          <p:cNvSpPr/>
          <p:nvPr/>
        </p:nvSpPr>
        <p:spPr>
          <a:xfrm>
            <a:off x="508000" y="1460500"/>
            <a:ext cx="4698900" cy="13971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300">
                <a:solidFill>
                  <a:srgbClr val="FFFFFF"/>
                </a:solidFill>
              </a:rPr>
              <a:t>🔢 Simpel voor pc, moeilijk voor mens</a:t>
            </a:r>
            <a:endParaRPr b="1" sz="13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125.234 × 365.444 = 45.765.918.896</a:t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Een rekenmachine doet dit in 1 milliseconde foutloos. Mensen vinden dit zonder papier ondoenlijk.</a:t>
            </a:r>
            <a:endParaRPr sz="1100">
              <a:solidFill>
                <a:srgbClr val="CBD5E1"/>
              </a:solidFill>
            </a:endParaRPr>
          </a:p>
        </p:txBody>
      </p:sp>
      <p:sp>
        <p:nvSpPr>
          <p:cNvPr id="98" name="Google Shape;98;p17"/>
          <p:cNvSpPr/>
          <p:nvPr/>
        </p:nvSpPr>
        <p:spPr>
          <a:xfrm>
            <a:off x="508000" y="2984500"/>
            <a:ext cx="4698900" cy="15240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300">
                <a:solidFill>
                  <a:srgbClr val="FFFFFF"/>
                </a:solidFill>
              </a:rPr>
              <a:t>🐶 Simpel voor mens, moeilijk voor pc</a:t>
            </a:r>
            <a:endParaRPr b="1" sz="13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Is dit een </a:t>
            </a:r>
            <a:r>
              <a:rPr b="1" lang="nl" sz="1100">
                <a:solidFill>
                  <a:srgbClr val="CBD5E1"/>
                </a:solidFill>
              </a:rPr>
              <a:t>kat</a:t>
            </a:r>
            <a:r>
              <a:rPr lang="nl" sz="1100">
                <a:solidFill>
                  <a:srgbClr val="CBD5E1"/>
                </a:solidFill>
              </a:rPr>
              <a:t> of een </a:t>
            </a:r>
            <a:r>
              <a:rPr b="1" lang="nl" sz="1100">
                <a:solidFill>
                  <a:srgbClr val="CBD5E1"/>
                </a:solidFill>
              </a:rPr>
              <a:t>hond</a:t>
            </a:r>
            <a:r>
              <a:rPr lang="nl" sz="1100">
                <a:solidFill>
                  <a:srgbClr val="CBD5E1"/>
                </a:solidFill>
              </a:rPr>
              <a:t>?</a:t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Een peuter herkent dit moeiteloos in een fractie van een seconde. Voor traditionele computers was dit decennialang onmogelijk!</a:t>
            </a:r>
            <a:endParaRPr sz="1100">
              <a:solidFill>
                <a:srgbClr val="CBD5E1"/>
              </a:solidFill>
            </a:endParaRPr>
          </a:p>
        </p:txBody>
      </p:sp>
      <p:sp>
        <p:nvSpPr>
          <p:cNvPr id="99" name="Google Shape;99;p17"/>
          <p:cNvSpPr/>
          <p:nvPr/>
        </p:nvSpPr>
        <p:spPr>
          <a:xfrm>
            <a:off x="5461000" y="1460500"/>
            <a:ext cx="3174900" cy="30480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0" name="Google Shape;10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2600" y="1994662"/>
            <a:ext cx="2971800" cy="1979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/>
          <p:nvPr/>
        </p:nvSpPr>
        <p:spPr>
          <a:xfrm>
            <a:off x="508000" y="381000"/>
            <a:ext cx="50799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100">
                <a:solidFill>
                  <a:srgbClr val="38BDF8"/>
                </a:solidFill>
              </a:rPr>
              <a:t>⏳ HISTORISCHE VOGELVLUCHT</a:t>
            </a:r>
            <a:endParaRPr b="1" sz="1100">
              <a:solidFill>
                <a:srgbClr val="38BDF8"/>
              </a:solidFill>
            </a:endParaRPr>
          </a:p>
        </p:txBody>
      </p:sp>
      <p:sp>
        <p:nvSpPr>
          <p:cNvPr id="106" name="Google Shape;106;p18"/>
          <p:cNvSpPr txBox="1"/>
          <p:nvPr/>
        </p:nvSpPr>
        <p:spPr>
          <a:xfrm>
            <a:off x="508000" y="698500"/>
            <a:ext cx="81279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3400">
                <a:solidFill>
                  <a:srgbClr val="FFFFFF"/>
                </a:solidFill>
              </a:rPr>
              <a:t>70 Jaar AI in Twee Stromingen</a:t>
            </a:r>
            <a:endParaRPr b="1" sz="3400">
              <a:solidFill>
                <a:srgbClr val="FFFFFF"/>
              </a:solidFill>
            </a:endParaRPr>
          </a:p>
        </p:txBody>
      </p:sp>
      <p:sp>
        <p:nvSpPr>
          <p:cNvPr id="107" name="Google Shape;107;p18"/>
          <p:cNvSpPr/>
          <p:nvPr/>
        </p:nvSpPr>
        <p:spPr>
          <a:xfrm>
            <a:off x="508000" y="1460500"/>
            <a:ext cx="4698900" cy="14604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300">
                <a:solidFill>
                  <a:srgbClr val="FFFFFF"/>
                </a:solidFill>
              </a:rPr>
              <a:t>🏛️ 1950 – 1990: Klassieke AI (Regels)</a:t>
            </a:r>
            <a:endParaRPr b="1" sz="13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• Denken vangen in logische regels: ALS dit, DAN dat</a:t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• Schaakcomputers: Deep Blue verslaat Kasparov in 1997</a:t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• De bottleneck: Het systeem leert zélf helemaal niets!</a:t>
            </a:r>
            <a:endParaRPr sz="1100">
              <a:solidFill>
                <a:srgbClr val="CBD5E1"/>
              </a:solidFill>
            </a:endParaRPr>
          </a:p>
        </p:txBody>
      </p:sp>
      <p:sp>
        <p:nvSpPr>
          <p:cNvPr id="108" name="Google Shape;108;p18"/>
          <p:cNvSpPr/>
          <p:nvPr/>
        </p:nvSpPr>
        <p:spPr>
          <a:xfrm>
            <a:off x="508000" y="3048000"/>
            <a:ext cx="4698900" cy="14604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300">
                <a:solidFill>
                  <a:srgbClr val="FFFFFF"/>
                </a:solidFill>
              </a:rPr>
              <a:t>🧬 Vanaf 1980 / 2000: Neurale AI (Leren)</a:t>
            </a:r>
            <a:endParaRPr b="1" sz="13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• Nabootsing van biologische hersencellen</a:t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• Niet programmeren, maar laten leren uit voorbeelden</a:t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• Doorbraak vanaf 2012 dankzij snelle GPU-chips en big data</a:t>
            </a:r>
            <a:endParaRPr sz="1100">
              <a:solidFill>
                <a:srgbClr val="CBD5E1"/>
              </a:solidFill>
            </a:endParaRPr>
          </a:p>
        </p:txBody>
      </p:sp>
      <p:sp>
        <p:nvSpPr>
          <p:cNvPr id="109" name="Google Shape;109;p18"/>
          <p:cNvSpPr/>
          <p:nvPr/>
        </p:nvSpPr>
        <p:spPr>
          <a:xfrm>
            <a:off x="5461000" y="1460500"/>
            <a:ext cx="3174900" cy="30480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2600" y="1994662"/>
            <a:ext cx="2971800" cy="1979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 txBox="1"/>
          <p:nvPr/>
        </p:nvSpPr>
        <p:spPr>
          <a:xfrm>
            <a:off x="508000" y="381000"/>
            <a:ext cx="50799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100">
                <a:solidFill>
                  <a:srgbClr val="34D399"/>
                </a:solidFill>
              </a:rPr>
              <a:t>🧬 BIOLOGISCHE INSPIRATIE</a:t>
            </a:r>
            <a:endParaRPr b="1" sz="1100">
              <a:solidFill>
                <a:srgbClr val="34D399"/>
              </a:solidFill>
            </a:endParaRPr>
          </a:p>
        </p:txBody>
      </p:sp>
      <p:sp>
        <p:nvSpPr>
          <p:cNvPr id="116" name="Google Shape;116;p19"/>
          <p:cNvSpPr txBox="1"/>
          <p:nvPr/>
        </p:nvSpPr>
        <p:spPr>
          <a:xfrm>
            <a:off x="508000" y="698500"/>
            <a:ext cx="81279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3400">
                <a:solidFill>
                  <a:srgbClr val="FFFFFF"/>
                </a:solidFill>
              </a:rPr>
              <a:t>Hoe leren onze Hersenen?</a:t>
            </a:r>
            <a:endParaRPr b="1" sz="3400">
              <a:solidFill>
                <a:srgbClr val="FFFFFF"/>
              </a:solidFill>
            </a:endParaRPr>
          </a:p>
        </p:txBody>
      </p:sp>
      <p:sp>
        <p:nvSpPr>
          <p:cNvPr id="117" name="Google Shape;117;p19"/>
          <p:cNvSpPr/>
          <p:nvPr/>
        </p:nvSpPr>
        <p:spPr>
          <a:xfrm>
            <a:off x="508000" y="1460500"/>
            <a:ext cx="4698900" cy="8256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300">
                <a:solidFill>
                  <a:srgbClr val="FFFFFF"/>
                </a:solidFill>
              </a:rPr>
              <a:t>🕸️ 86 Miljard Neuronen: </a:t>
            </a:r>
            <a:r>
              <a:rPr lang="nl" sz="1200">
                <a:solidFill>
                  <a:srgbClr val="CBD5E1"/>
                </a:solidFill>
              </a:rPr>
              <a:t>Verbonden met onze zintuigen en intensief met elkaar.</a:t>
            </a:r>
            <a:endParaRPr sz="1200">
              <a:solidFill>
                <a:srgbClr val="CBD5E1"/>
              </a:solidFill>
            </a:endParaRPr>
          </a:p>
        </p:txBody>
      </p:sp>
      <p:sp>
        <p:nvSpPr>
          <p:cNvPr id="118" name="Google Shape;118;p19"/>
          <p:cNvSpPr/>
          <p:nvPr/>
        </p:nvSpPr>
        <p:spPr>
          <a:xfrm>
            <a:off x="508000" y="2413000"/>
            <a:ext cx="4698900" cy="8256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300">
                <a:solidFill>
                  <a:srgbClr val="FFFFFF"/>
                </a:solidFill>
              </a:rPr>
              <a:t>⚡ Vuren van Impulsen: </a:t>
            </a:r>
            <a:r>
              <a:rPr lang="nl" sz="1200">
                <a:solidFill>
                  <a:srgbClr val="CBD5E1"/>
                </a:solidFill>
              </a:rPr>
              <a:t>Boven een bepaalde drempel stuurt een neuron een elektrisch signaal door.</a:t>
            </a:r>
            <a:endParaRPr sz="1200">
              <a:solidFill>
                <a:srgbClr val="CBD5E1"/>
              </a:solidFill>
            </a:endParaRPr>
          </a:p>
        </p:txBody>
      </p:sp>
      <p:sp>
        <p:nvSpPr>
          <p:cNvPr id="119" name="Google Shape;119;p19"/>
          <p:cNvSpPr/>
          <p:nvPr/>
        </p:nvSpPr>
        <p:spPr>
          <a:xfrm>
            <a:off x="508000" y="3365500"/>
            <a:ext cx="4698900" cy="11430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90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200">
                <a:solidFill>
                  <a:srgbClr val="38BDF8"/>
                </a:solidFill>
              </a:rPr>
              <a:t>🌱 Plasticiteit &amp; Synapsen</a:t>
            </a:r>
            <a:endParaRPr b="1" sz="1200">
              <a:solidFill>
                <a:srgbClr val="38BDF8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Leren = verbindingen tussen neuronen fysiek versterken of verzwakken door herhaling en ervaring.</a:t>
            </a:r>
            <a:endParaRPr sz="1100">
              <a:solidFill>
                <a:srgbClr val="CBD5E1"/>
              </a:solidFill>
            </a:endParaRPr>
          </a:p>
        </p:txBody>
      </p:sp>
      <p:sp>
        <p:nvSpPr>
          <p:cNvPr id="120" name="Google Shape;120;p19"/>
          <p:cNvSpPr/>
          <p:nvPr/>
        </p:nvSpPr>
        <p:spPr>
          <a:xfrm>
            <a:off x="5461000" y="1460500"/>
            <a:ext cx="3174900" cy="30480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1" name="Google Shape;12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2600" y="1871218"/>
            <a:ext cx="2971800" cy="2226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/>
        </p:nvSpPr>
        <p:spPr>
          <a:xfrm>
            <a:off x="508000" y="381000"/>
            <a:ext cx="50799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100">
                <a:solidFill>
                  <a:srgbClr val="38BDF8"/>
                </a:solidFill>
              </a:rPr>
              <a:t>💻 MACHINE LEARNING</a:t>
            </a:r>
            <a:endParaRPr b="1" sz="1100">
              <a:solidFill>
                <a:srgbClr val="38BDF8"/>
              </a:solidFill>
            </a:endParaRPr>
          </a:p>
        </p:txBody>
      </p:sp>
      <p:sp>
        <p:nvSpPr>
          <p:cNvPr id="127" name="Google Shape;127;p20"/>
          <p:cNvSpPr txBox="1"/>
          <p:nvPr/>
        </p:nvSpPr>
        <p:spPr>
          <a:xfrm>
            <a:off x="508000" y="698500"/>
            <a:ext cx="81279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3400">
                <a:solidFill>
                  <a:srgbClr val="FFFFFF"/>
                </a:solidFill>
              </a:rPr>
              <a:t>Neurale Netwerken in Software</a:t>
            </a:r>
            <a:endParaRPr b="1" sz="3400">
              <a:solidFill>
                <a:srgbClr val="FFFFFF"/>
              </a:solidFill>
            </a:endParaRPr>
          </a:p>
        </p:txBody>
      </p:sp>
      <p:sp>
        <p:nvSpPr>
          <p:cNvPr id="128" name="Google Shape;128;p20"/>
          <p:cNvSpPr/>
          <p:nvPr/>
        </p:nvSpPr>
        <p:spPr>
          <a:xfrm>
            <a:off x="508000" y="1460500"/>
            <a:ext cx="4698900" cy="16509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300">
                <a:solidFill>
                  <a:srgbClr val="FFFFFF"/>
                </a:solidFill>
              </a:rPr>
              <a:t>⚙️ De Drie Lagen</a:t>
            </a:r>
            <a:endParaRPr b="1" sz="13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• Invoerlaag (Input): pixels van foto of geluidssignaal</a:t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• Verborgen lagen: ontdekken stap voor stap abstracte patronen</a:t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• Uitvoerlaag (Output): berekende kans op herkenning of keuze</a:t>
            </a:r>
            <a:endParaRPr sz="1100">
              <a:solidFill>
                <a:srgbClr val="CBD5E1"/>
              </a:solidFill>
            </a:endParaRPr>
          </a:p>
        </p:txBody>
      </p:sp>
      <p:sp>
        <p:nvSpPr>
          <p:cNvPr id="129" name="Google Shape;129;p20"/>
          <p:cNvSpPr/>
          <p:nvPr/>
        </p:nvSpPr>
        <p:spPr>
          <a:xfrm>
            <a:off x="508000" y="3238500"/>
            <a:ext cx="4698900" cy="12699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90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200">
                <a:solidFill>
                  <a:srgbClr val="38BDF8"/>
                </a:solidFill>
              </a:rPr>
              <a:t>🔢 Gewichten (Weights): De ziel van het netwerk</a:t>
            </a:r>
            <a:endParaRPr b="1" sz="1200">
              <a:solidFill>
                <a:srgbClr val="38BDF8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Verbindingen tussen knooppunten hebben getallen (gewichten). Dit bepaalt de signaalsterkte. Het hele netwerk is 100% wiskunde in software!</a:t>
            </a:r>
            <a:endParaRPr sz="1100">
              <a:solidFill>
                <a:srgbClr val="CBD5E1"/>
              </a:solidFill>
            </a:endParaRPr>
          </a:p>
        </p:txBody>
      </p:sp>
      <p:sp>
        <p:nvSpPr>
          <p:cNvPr id="130" name="Google Shape;130;p20"/>
          <p:cNvSpPr/>
          <p:nvPr/>
        </p:nvSpPr>
        <p:spPr>
          <a:xfrm>
            <a:off x="5461000" y="1460500"/>
            <a:ext cx="3174900" cy="30480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2600" y="2049526"/>
            <a:ext cx="2971800" cy="18699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/>
        </p:nvSpPr>
        <p:spPr>
          <a:xfrm>
            <a:off x="508000" y="381000"/>
            <a:ext cx="50799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100">
                <a:solidFill>
                  <a:srgbClr val="FB7185"/>
                </a:solidFill>
              </a:rPr>
              <a:t>🏛️ HET VERLEDEN (JAREN '80)</a:t>
            </a:r>
            <a:endParaRPr b="1" sz="1100">
              <a:solidFill>
                <a:srgbClr val="FB7185"/>
              </a:solidFill>
            </a:endParaRPr>
          </a:p>
        </p:txBody>
      </p:sp>
      <p:sp>
        <p:nvSpPr>
          <p:cNvPr id="137" name="Google Shape;137;p21"/>
          <p:cNvSpPr txBox="1"/>
          <p:nvPr/>
        </p:nvSpPr>
        <p:spPr>
          <a:xfrm>
            <a:off x="508000" y="698500"/>
            <a:ext cx="81279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3400">
                <a:solidFill>
                  <a:srgbClr val="FFFFFF"/>
                </a:solidFill>
              </a:rPr>
              <a:t>Cijfers Herkennen met Regels</a:t>
            </a:r>
            <a:endParaRPr b="1" sz="3400">
              <a:solidFill>
                <a:srgbClr val="FFFFFF"/>
              </a:solidFill>
            </a:endParaRPr>
          </a:p>
        </p:txBody>
      </p:sp>
      <p:sp>
        <p:nvSpPr>
          <p:cNvPr id="138" name="Google Shape;138;p21"/>
          <p:cNvSpPr/>
          <p:nvPr/>
        </p:nvSpPr>
        <p:spPr>
          <a:xfrm>
            <a:off x="508000" y="1460500"/>
            <a:ext cx="4698900" cy="17145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300">
                <a:solidFill>
                  <a:srgbClr val="FFFFFF"/>
                </a:solidFill>
              </a:rPr>
              <a:t>🔍 Handmatig Kenmerken Bepalen</a:t>
            </a:r>
            <a:endParaRPr b="1" sz="13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PTT &amp; Postbank onderzoek girokaarten:</a:t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• Eindpunten meten: zit er een punt boven of onder?</a:t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• Hol en bol: waar buigen de lijnen?</a:t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• Eilanden: gesloten lussen (bij 0 of 8)</a:t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• 5.280 kenmerken handmatig geprogrammeerd in tabellen</a:t>
            </a:r>
            <a:endParaRPr sz="1100">
              <a:solidFill>
                <a:srgbClr val="CBD5E1"/>
              </a:solidFill>
            </a:endParaRPr>
          </a:p>
        </p:txBody>
      </p:sp>
      <p:sp>
        <p:nvSpPr>
          <p:cNvPr id="139" name="Google Shape;139;p21"/>
          <p:cNvSpPr/>
          <p:nvPr/>
        </p:nvSpPr>
        <p:spPr>
          <a:xfrm>
            <a:off x="508000" y="3302000"/>
            <a:ext cx="4698900" cy="12066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90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200">
                <a:solidFill>
                  <a:srgbClr val="38BDF8"/>
                </a:solidFill>
              </a:rPr>
              <a:t>⚠️ De Bottleneck van Regels</a:t>
            </a:r>
            <a:endParaRPr b="1" sz="1200">
              <a:solidFill>
                <a:srgbClr val="38BDF8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Schrijft iemand een afwijkende krul, of zit er een koffievlek op de envelop? Dan loopt het regelsysteem direct vast!</a:t>
            </a:r>
            <a:endParaRPr sz="1100">
              <a:solidFill>
                <a:srgbClr val="CBD5E1"/>
              </a:solidFill>
            </a:endParaRPr>
          </a:p>
        </p:txBody>
      </p:sp>
      <p:sp>
        <p:nvSpPr>
          <p:cNvPr id="140" name="Google Shape;140;p21"/>
          <p:cNvSpPr/>
          <p:nvPr/>
        </p:nvSpPr>
        <p:spPr>
          <a:xfrm>
            <a:off x="5461000" y="1460500"/>
            <a:ext cx="3174900" cy="30480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1" name="Google Shape;14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2600" y="2280412"/>
            <a:ext cx="2971800" cy="1408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 txBox="1"/>
          <p:nvPr/>
        </p:nvSpPr>
        <p:spPr>
          <a:xfrm>
            <a:off x="508000" y="381000"/>
            <a:ext cx="50799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100">
                <a:solidFill>
                  <a:srgbClr val="34D399"/>
                </a:solidFill>
              </a:rPr>
              <a:t>✨ DE MODERNE AANPAK</a:t>
            </a:r>
            <a:endParaRPr b="1" sz="1100">
              <a:solidFill>
                <a:srgbClr val="34D399"/>
              </a:solidFill>
            </a:endParaRPr>
          </a:p>
        </p:txBody>
      </p:sp>
      <p:sp>
        <p:nvSpPr>
          <p:cNvPr id="147" name="Google Shape;147;p22"/>
          <p:cNvSpPr txBox="1"/>
          <p:nvPr/>
        </p:nvSpPr>
        <p:spPr>
          <a:xfrm>
            <a:off x="508000" y="698500"/>
            <a:ext cx="81279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3400">
                <a:solidFill>
                  <a:srgbClr val="FFFFFF"/>
                </a:solidFill>
              </a:rPr>
              <a:t>Geen Regels, maar Zelf Leren</a:t>
            </a:r>
            <a:endParaRPr b="1" sz="3400">
              <a:solidFill>
                <a:srgbClr val="FFFFFF"/>
              </a:solidFill>
            </a:endParaRPr>
          </a:p>
        </p:txBody>
      </p:sp>
      <p:sp>
        <p:nvSpPr>
          <p:cNvPr id="148" name="Google Shape;148;p22"/>
          <p:cNvSpPr/>
          <p:nvPr/>
        </p:nvSpPr>
        <p:spPr>
          <a:xfrm>
            <a:off x="508000" y="1460497"/>
            <a:ext cx="4698900" cy="1714500"/>
          </a:xfrm>
          <a:prstGeom prst="roundRect">
            <a:avLst>
              <a:gd fmla="val 11111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0500" lIns="190500" spcFirstLastPara="1" rIns="190500" wrap="square" tIns="190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⚙️ De Neurale Aanpak</a:t>
            </a:r>
            <a:endParaRPr b="1" sz="13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• Invoer: 28 × 28 pixels = 784 grijswaarden (getallen 0 t/m 1)</a:t>
            </a:r>
            <a:endParaRPr sz="1100">
              <a:solidFill>
                <a:srgbClr val="CBD5E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nl" sz="1100">
                <a:solidFill>
                  <a:srgbClr val="CBD5E1"/>
                </a:solidFill>
              </a:rPr>
              <a:t>• 2 verborgen lagen = circa 13.000 wiskundige gewichten</a:t>
            </a:r>
            <a:endParaRPr sz="1100">
              <a:solidFill>
                <a:srgbClr val="CBD5E1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• Gewichten bepalen sterkte verbindingen: hoger meer invloed</a:t>
            </a:r>
            <a:endParaRPr sz="1100">
              <a:solidFill>
                <a:srgbClr val="CBD5E1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• Uitvoer: 10 scores (voor de cijfers 0 t/m 9)</a:t>
            </a:r>
            <a:endParaRPr sz="1100">
              <a:solidFill>
                <a:srgbClr val="CBD5E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• NUL handmatige regels over lussen of lijnen geprogrammeerd!</a:t>
            </a:r>
            <a:endParaRPr sz="1100">
              <a:solidFill>
                <a:srgbClr val="CBD5E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2"/>
          <p:cNvSpPr/>
          <p:nvPr/>
        </p:nvSpPr>
        <p:spPr>
          <a:xfrm>
            <a:off x="508000" y="3302003"/>
            <a:ext cx="4698900" cy="1206600"/>
          </a:xfrm>
          <a:prstGeom prst="roundRect">
            <a:avLst>
              <a:gd fmla="val 15788" name="adj"/>
            </a:avLst>
          </a:prstGeom>
          <a:solidFill>
            <a:srgbClr val="1E293B"/>
          </a:solidFill>
          <a:ln cap="flat" cmpd="sng" w="190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0500" lIns="190500" spcFirstLastPara="1" rIns="190500" wrap="square" tIns="190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200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💡 Zelf Patronen Ontdekken</a:t>
            </a:r>
            <a:endParaRPr b="1" sz="1200">
              <a:solidFill>
                <a:srgbClr val="38BDF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Het netwerk ontdekt door training zelfstandig welke combinaties van pixels bij een 8 of een 3 horen.</a:t>
            </a:r>
            <a:endParaRPr sz="1100">
              <a:solidFill>
                <a:srgbClr val="CBD5E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2"/>
          <p:cNvSpPr/>
          <p:nvPr/>
        </p:nvSpPr>
        <p:spPr>
          <a:xfrm>
            <a:off x="5461000" y="1460500"/>
            <a:ext cx="3174900" cy="30480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1" name="Google Shape;15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2600" y="1896364"/>
            <a:ext cx="2971800" cy="21762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3"/>
          <p:cNvSpPr txBox="1"/>
          <p:nvPr/>
        </p:nvSpPr>
        <p:spPr>
          <a:xfrm>
            <a:off x="508000" y="381000"/>
            <a:ext cx="50799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100">
                <a:solidFill>
                  <a:srgbClr val="38BDF8"/>
                </a:solidFill>
              </a:rPr>
              <a:t>🔄 TRAINING &amp; FEEDBACK</a:t>
            </a:r>
            <a:endParaRPr b="1" sz="1100">
              <a:solidFill>
                <a:srgbClr val="38BDF8"/>
              </a:solidFill>
            </a:endParaRPr>
          </a:p>
        </p:txBody>
      </p:sp>
      <p:sp>
        <p:nvSpPr>
          <p:cNvPr id="157" name="Google Shape;157;p23"/>
          <p:cNvSpPr txBox="1"/>
          <p:nvPr/>
        </p:nvSpPr>
        <p:spPr>
          <a:xfrm>
            <a:off x="508000" y="698500"/>
            <a:ext cx="81279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3400">
                <a:solidFill>
                  <a:srgbClr val="FFFFFF"/>
                </a:solidFill>
              </a:rPr>
              <a:t>Fouten Maken en Bijstellen</a:t>
            </a:r>
            <a:endParaRPr b="1" sz="3400">
              <a:solidFill>
                <a:srgbClr val="FFFFFF"/>
              </a:solidFill>
            </a:endParaRPr>
          </a:p>
        </p:txBody>
      </p:sp>
      <p:sp>
        <p:nvSpPr>
          <p:cNvPr id="158" name="Google Shape;158;p23"/>
          <p:cNvSpPr/>
          <p:nvPr/>
        </p:nvSpPr>
        <p:spPr>
          <a:xfrm>
            <a:off x="508000" y="1460500"/>
            <a:ext cx="8127900" cy="6984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300">
                <a:solidFill>
                  <a:srgbClr val="FFFFFF"/>
                </a:solidFill>
              </a:rPr>
              <a:t>1. Willekeurige start: </a:t>
            </a:r>
            <a:r>
              <a:rPr lang="nl" sz="1200">
                <a:solidFill>
                  <a:srgbClr val="CBD5E1"/>
                </a:solidFill>
              </a:rPr>
              <a:t>Alle 13.000 gewichtjes beginnen met willekeurige getallen. Het netwerk gokt maar wat.</a:t>
            </a:r>
            <a:endParaRPr sz="1200">
              <a:solidFill>
                <a:srgbClr val="CBD5E1"/>
              </a:solidFill>
            </a:endParaRPr>
          </a:p>
        </p:txBody>
      </p:sp>
      <p:sp>
        <p:nvSpPr>
          <p:cNvPr id="159" name="Google Shape;159;p23"/>
          <p:cNvSpPr/>
          <p:nvPr/>
        </p:nvSpPr>
        <p:spPr>
          <a:xfrm>
            <a:off x="508000" y="2222500"/>
            <a:ext cx="8127900" cy="6984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300">
                <a:solidFill>
                  <a:srgbClr val="FFFFFF"/>
                </a:solidFill>
              </a:rPr>
              <a:t>2. Voorbeeld aanbieden: </a:t>
            </a:r>
            <a:r>
              <a:rPr lang="nl" sz="1200">
                <a:solidFill>
                  <a:srgbClr val="CBD5E1"/>
                </a:solidFill>
              </a:rPr>
              <a:t>We voeren een plaatje van een '8' in. Het netwerk rekent en voorspelt bijvoorbeeld een '3'.</a:t>
            </a:r>
            <a:endParaRPr sz="1200">
              <a:solidFill>
                <a:srgbClr val="CBD5E1"/>
              </a:solidFill>
            </a:endParaRPr>
          </a:p>
        </p:txBody>
      </p:sp>
      <p:sp>
        <p:nvSpPr>
          <p:cNvPr id="160" name="Google Shape;160;p23"/>
          <p:cNvSpPr/>
          <p:nvPr/>
        </p:nvSpPr>
        <p:spPr>
          <a:xfrm>
            <a:off x="508000" y="2984500"/>
            <a:ext cx="8127900" cy="6984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300">
                <a:solidFill>
                  <a:srgbClr val="FFFFFF"/>
                </a:solidFill>
              </a:rPr>
              <a:t>3. Fout berekenen: </a:t>
            </a:r>
            <a:r>
              <a:rPr lang="nl" sz="1200">
                <a:solidFill>
                  <a:srgbClr val="CBD5E1"/>
                </a:solidFill>
              </a:rPr>
              <a:t>We vergelijken de gok ('3') met het juiste antwoord ('8'). Er is een meetbaar verschil.</a:t>
            </a:r>
            <a:endParaRPr sz="1200">
              <a:solidFill>
                <a:srgbClr val="CBD5E1"/>
              </a:solidFill>
            </a:endParaRPr>
          </a:p>
        </p:txBody>
      </p:sp>
      <p:sp>
        <p:nvSpPr>
          <p:cNvPr id="161" name="Google Shape;161;p23"/>
          <p:cNvSpPr/>
          <p:nvPr/>
        </p:nvSpPr>
        <p:spPr>
          <a:xfrm>
            <a:off x="508000" y="3746500"/>
            <a:ext cx="8127900" cy="6984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300">
                <a:solidFill>
                  <a:srgbClr val="FFFFFF"/>
                </a:solidFill>
              </a:rPr>
              <a:t>4. Backpropagation (bijstellen): </a:t>
            </a:r>
            <a:r>
              <a:rPr lang="nl" sz="1200">
                <a:solidFill>
                  <a:srgbClr val="CBD5E1"/>
                </a:solidFill>
              </a:rPr>
              <a:t>Wiskundig worden alle 13.000 gewichtjes een fractie bijgesteld om de fout te verkleinen. Herhaal tienduizenden keren!</a:t>
            </a:r>
            <a:endParaRPr sz="1200">
              <a:solidFill>
                <a:srgbClr val="CBD5E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4"/>
          <p:cNvSpPr txBox="1"/>
          <p:nvPr/>
        </p:nvSpPr>
        <p:spPr>
          <a:xfrm>
            <a:off x="508000" y="381000"/>
            <a:ext cx="50799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100">
                <a:solidFill>
                  <a:srgbClr val="38BDF8"/>
                </a:solidFill>
              </a:rPr>
              <a:t>📈 DE TUSSENSTAPPEN</a:t>
            </a:r>
            <a:endParaRPr b="1" sz="1100">
              <a:solidFill>
                <a:srgbClr val="38BDF8"/>
              </a:solidFill>
            </a:endParaRPr>
          </a:p>
        </p:txBody>
      </p:sp>
      <p:sp>
        <p:nvSpPr>
          <p:cNvPr id="167" name="Google Shape;167;p24"/>
          <p:cNvSpPr txBox="1"/>
          <p:nvPr/>
        </p:nvSpPr>
        <p:spPr>
          <a:xfrm>
            <a:off x="508000" y="698500"/>
            <a:ext cx="81279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3400">
                <a:solidFill>
                  <a:srgbClr val="FFFFFF"/>
                </a:solidFill>
              </a:rPr>
              <a:t>Grotere Modellen &amp; Snellere Chips</a:t>
            </a:r>
            <a:endParaRPr b="1" sz="3400">
              <a:solidFill>
                <a:srgbClr val="FFFFFF"/>
              </a:solidFill>
            </a:endParaRPr>
          </a:p>
        </p:txBody>
      </p:sp>
      <p:sp>
        <p:nvSpPr>
          <p:cNvPr id="168" name="Google Shape;168;p24"/>
          <p:cNvSpPr/>
          <p:nvPr/>
        </p:nvSpPr>
        <p:spPr>
          <a:xfrm>
            <a:off x="508000" y="1460500"/>
            <a:ext cx="4698900" cy="30480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300">
                <a:solidFill>
                  <a:srgbClr val="FFFFFF"/>
                </a:solidFill>
              </a:rPr>
              <a:t>📈 25 Jaar Vooruitgang</a:t>
            </a:r>
            <a:endParaRPr b="1" sz="13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• Jaren '90: Handschriftherkenning op giro en postcodes</a:t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• Jaren 2000: Kentekenherkenning (ANPR), gezichten in camera's, ziektes in gewassen</a:t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• Jaren 2010: Deep Learning (GPU-chips), vloeiende spraakherkenning (Siri, Alexa, Google Assistent)</a:t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• Maar menselijke taal écht begrijpen bleef een enorm obstakel...</a:t>
            </a:r>
            <a:endParaRPr sz="1100">
              <a:solidFill>
                <a:srgbClr val="CBD5E1"/>
              </a:solidFill>
            </a:endParaRPr>
          </a:p>
        </p:txBody>
      </p:sp>
      <p:sp>
        <p:nvSpPr>
          <p:cNvPr id="169" name="Google Shape;169;p24"/>
          <p:cNvSpPr/>
          <p:nvPr/>
        </p:nvSpPr>
        <p:spPr>
          <a:xfrm>
            <a:off x="5461000" y="1460500"/>
            <a:ext cx="3174900" cy="30480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0" name="Google Shape;17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2600" y="2150110"/>
            <a:ext cx="2971800" cy="16687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5"/>
          <p:cNvSpPr txBox="1"/>
          <p:nvPr/>
        </p:nvSpPr>
        <p:spPr>
          <a:xfrm>
            <a:off x="508000" y="381000"/>
            <a:ext cx="50799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100">
                <a:solidFill>
                  <a:srgbClr val="C084FC"/>
                </a:solidFill>
              </a:rPr>
              <a:t>🚀 DE GROTE DOORBRAAK (2017)</a:t>
            </a:r>
            <a:endParaRPr b="1" sz="1100">
              <a:solidFill>
                <a:srgbClr val="C084FC"/>
              </a:solidFill>
            </a:endParaRPr>
          </a:p>
        </p:txBody>
      </p:sp>
      <p:sp>
        <p:nvSpPr>
          <p:cNvPr id="176" name="Google Shape;176;p25"/>
          <p:cNvSpPr txBox="1"/>
          <p:nvPr/>
        </p:nvSpPr>
        <p:spPr>
          <a:xfrm>
            <a:off x="508000" y="698500"/>
            <a:ext cx="81279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3400">
                <a:solidFill>
                  <a:srgbClr val="FFFFFF"/>
                </a:solidFill>
              </a:rPr>
              <a:t>De Stap naar Menselijke Taal</a:t>
            </a:r>
            <a:endParaRPr b="1" sz="3400">
              <a:solidFill>
                <a:srgbClr val="FFFFFF"/>
              </a:solidFill>
            </a:endParaRPr>
          </a:p>
        </p:txBody>
      </p:sp>
      <p:sp>
        <p:nvSpPr>
          <p:cNvPr id="177" name="Google Shape;177;p25"/>
          <p:cNvSpPr/>
          <p:nvPr/>
        </p:nvSpPr>
        <p:spPr>
          <a:xfrm>
            <a:off x="508000" y="1460500"/>
            <a:ext cx="4698900" cy="16509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300">
                <a:solidFill>
                  <a:srgbClr val="FFFFFF"/>
                </a:solidFill>
              </a:rPr>
              <a:t>🧩 Het Probleem van Context</a:t>
            </a:r>
            <a:endParaRPr b="1" sz="13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Woorden veranderen van betekenis door hun omgeving:</a:t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• "Hij ging op de bank zitten." (meubel)</a:t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• "Hij zette zijn geld op de bank." (financieel)</a:t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Oude computers lazen woord voor woord en vergaten het begin van de zin.</a:t>
            </a:r>
            <a:endParaRPr sz="1100">
              <a:solidFill>
                <a:srgbClr val="CBD5E1"/>
              </a:solidFill>
            </a:endParaRPr>
          </a:p>
        </p:txBody>
      </p:sp>
      <p:sp>
        <p:nvSpPr>
          <p:cNvPr id="178" name="Google Shape;178;p25"/>
          <p:cNvSpPr/>
          <p:nvPr/>
        </p:nvSpPr>
        <p:spPr>
          <a:xfrm>
            <a:off x="508000" y="3238500"/>
            <a:ext cx="4698900" cy="12699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90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200">
                <a:solidFill>
                  <a:srgbClr val="38BDF8"/>
                </a:solidFill>
              </a:rPr>
              <a:t>⚡ De Transformer (Google, 2017)</a:t>
            </a:r>
            <a:endParaRPr b="1" sz="1200">
              <a:solidFill>
                <a:srgbClr val="38BDF8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Bekijkt via een Aandachtsmechanisme (Self-Attention) alle woorden tegelijk. De motor achter ChatGPT, Gemini en Claude!</a:t>
            </a:r>
            <a:endParaRPr sz="1100">
              <a:solidFill>
                <a:srgbClr val="CBD5E1"/>
              </a:solidFill>
            </a:endParaRPr>
          </a:p>
        </p:txBody>
      </p:sp>
      <p:sp>
        <p:nvSpPr>
          <p:cNvPr id="179" name="Google Shape;179;p25"/>
          <p:cNvSpPr/>
          <p:nvPr/>
        </p:nvSpPr>
        <p:spPr>
          <a:xfrm>
            <a:off x="5461000" y="1460500"/>
            <a:ext cx="3174900" cy="30480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6126" y="1562100"/>
            <a:ext cx="2704748" cy="284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6"/>
          <p:cNvSpPr txBox="1"/>
          <p:nvPr/>
        </p:nvSpPr>
        <p:spPr>
          <a:xfrm>
            <a:off x="508000" y="381000"/>
            <a:ext cx="50799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100">
                <a:solidFill>
                  <a:srgbClr val="38BDF8"/>
                </a:solidFill>
              </a:rPr>
              <a:t>📚 HET LEERPROCES</a:t>
            </a:r>
            <a:endParaRPr b="1" sz="1100">
              <a:solidFill>
                <a:srgbClr val="38BDF8"/>
              </a:solidFill>
            </a:endParaRPr>
          </a:p>
        </p:txBody>
      </p:sp>
      <p:sp>
        <p:nvSpPr>
          <p:cNvPr id="186" name="Google Shape;186;p26"/>
          <p:cNvSpPr txBox="1"/>
          <p:nvPr/>
        </p:nvSpPr>
        <p:spPr>
          <a:xfrm>
            <a:off x="508000" y="698500"/>
            <a:ext cx="81279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3400">
                <a:solidFill>
                  <a:srgbClr val="FFFFFF"/>
                </a:solidFill>
              </a:rPr>
              <a:t>Hoe traint een Groot Taalmodel?</a:t>
            </a:r>
            <a:endParaRPr b="1" sz="3400">
              <a:solidFill>
                <a:srgbClr val="FFFFFF"/>
              </a:solidFill>
            </a:endParaRPr>
          </a:p>
        </p:txBody>
      </p:sp>
      <p:sp>
        <p:nvSpPr>
          <p:cNvPr id="187" name="Google Shape;187;p26"/>
          <p:cNvSpPr/>
          <p:nvPr/>
        </p:nvSpPr>
        <p:spPr>
          <a:xfrm>
            <a:off x="508000" y="1460500"/>
            <a:ext cx="4698900" cy="16509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300">
                <a:solidFill>
                  <a:srgbClr val="FFFFFF"/>
                </a:solidFill>
              </a:rPr>
              <a:t>🌐 Het Hele Internet &amp; Next-Token</a:t>
            </a:r>
            <a:endParaRPr b="1" sz="13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• Getraind op petabytes aan tekst: boeken, artikelen, Wikipedia</a:t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• Next-Token Prediction: geef 10 woorden, voorspel woord 11</a:t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• "De hoofdstad van Frankrijk is..." -&gt; [Parijs]</a:t>
            </a:r>
            <a:endParaRPr sz="1100">
              <a:solidFill>
                <a:srgbClr val="CBD5E1"/>
              </a:solidFill>
            </a:endParaRPr>
          </a:p>
        </p:txBody>
      </p:sp>
      <p:sp>
        <p:nvSpPr>
          <p:cNvPr id="188" name="Google Shape;188;p26"/>
          <p:cNvSpPr/>
          <p:nvPr/>
        </p:nvSpPr>
        <p:spPr>
          <a:xfrm>
            <a:off x="508000" y="3238500"/>
            <a:ext cx="4698900" cy="12699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90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200">
                <a:solidFill>
                  <a:srgbClr val="38BDF8"/>
                </a:solidFill>
              </a:rPr>
              <a:t>📐 Betekenis als Coördinaten (Vectoren)</a:t>
            </a:r>
            <a:endParaRPr b="1" sz="1200">
              <a:solidFill>
                <a:srgbClr val="38BDF8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Woorden worden getallenreeksen in een ruimte met duizenden dimensies. Verwante concepten clusteren wiskundig samen: Koning - Man + Vrouw ≈ Koningin.</a:t>
            </a:r>
            <a:endParaRPr sz="1100">
              <a:solidFill>
                <a:srgbClr val="CBD5E1"/>
              </a:solidFill>
            </a:endParaRPr>
          </a:p>
        </p:txBody>
      </p:sp>
      <p:sp>
        <p:nvSpPr>
          <p:cNvPr id="189" name="Google Shape;189;p26"/>
          <p:cNvSpPr/>
          <p:nvPr/>
        </p:nvSpPr>
        <p:spPr>
          <a:xfrm>
            <a:off x="5461000" y="1460500"/>
            <a:ext cx="3174900" cy="30480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0" name="Google Shape;19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2600" y="2312416"/>
            <a:ext cx="2971800" cy="1344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7"/>
          <p:cNvSpPr txBox="1"/>
          <p:nvPr/>
        </p:nvSpPr>
        <p:spPr>
          <a:xfrm>
            <a:off x="508000" y="381000"/>
            <a:ext cx="50799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100">
                <a:solidFill>
                  <a:srgbClr val="FBBF24"/>
                </a:solidFill>
              </a:rPr>
              <a:t>⚠️ HET BELANGRIJKSTE INZICHT</a:t>
            </a:r>
            <a:endParaRPr b="1" sz="1100">
              <a:solidFill>
                <a:srgbClr val="FBBF24"/>
              </a:solidFill>
            </a:endParaRPr>
          </a:p>
        </p:txBody>
      </p:sp>
      <p:sp>
        <p:nvSpPr>
          <p:cNvPr id="196" name="Google Shape;196;p27"/>
          <p:cNvSpPr txBox="1"/>
          <p:nvPr/>
        </p:nvSpPr>
        <p:spPr>
          <a:xfrm>
            <a:off x="508000" y="698500"/>
            <a:ext cx="81279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3400">
                <a:solidFill>
                  <a:srgbClr val="FFFFFF"/>
                </a:solidFill>
              </a:rPr>
              <a:t>AI is GÉÉN Database met Feiten!</a:t>
            </a:r>
            <a:endParaRPr b="1" sz="3400">
              <a:solidFill>
                <a:srgbClr val="FFFFFF"/>
              </a:solidFill>
            </a:endParaRPr>
          </a:p>
        </p:txBody>
      </p:sp>
      <p:sp>
        <p:nvSpPr>
          <p:cNvPr id="197" name="Google Shape;197;p27"/>
          <p:cNvSpPr/>
          <p:nvPr/>
        </p:nvSpPr>
        <p:spPr>
          <a:xfrm>
            <a:off x="508000" y="1460500"/>
            <a:ext cx="4698900" cy="17145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300">
                <a:solidFill>
                  <a:srgbClr val="FFFFFF"/>
                </a:solidFill>
              </a:rPr>
              <a:t>❌ Geen Encyclopedie, maar Kansberekening</a:t>
            </a:r>
            <a:endParaRPr b="1" sz="13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• AI zoekt NIET in een database met opgeslagen waarheden</a:t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• Het is een hyperkrachtige waarschijnlijkheidsmachine</a:t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• Het model genereert wat qua taalpatronen logisch klinkt</a:t>
            </a:r>
            <a:endParaRPr sz="1100">
              <a:solidFill>
                <a:srgbClr val="CBD5E1"/>
              </a:solidFill>
            </a:endParaRPr>
          </a:p>
        </p:txBody>
      </p:sp>
      <p:sp>
        <p:nvSpPr>
          <p:cNvPr id="198" name="Google Shape;198;p27"/>
          <p:cNvSpPr/>
          <p:nvPr/>
        </p:nvSpPr>
        <p:spPr>
          <a:xfrm>
            <a:off x="508000" y="3302000"/>
            <a:ext cx="4698900" cy="12066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90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200">
                <a:solidFill>
                  <a:srgbClr val="38BDF8"/>
                </a:solidFill>
              </a:rPr>
              <a:t>🚨 Het gevaar van Hallucinaties</a:t>
            </a:r>
            <a:endParaRPr b="1" sz="1200">
              <a:solidFill>
                <a:srgbClr val="38BDF8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Weet de AI iets niet? Dan geeft het zelden toe dat het het niet weet. Het model verzint met vol zelfvertrouwen een overtuigend, maar onwaar antwoord!</a:t>
            </a:r>
            <a:endParaRPr sz="1100">
              <a:solidFill>
                <a:srgbClr val="CBD5E1"/>
              </a:solidFill>
            </a:endParaRPr>
          </a:p>
        </p:txBody>
      </p:sp>
      <p:sp>
        <p:nvSpPr>
          <p:cNvPr id="199" name="Google Shape;199;p27"/>
          <p:cNvSpPr/>
          <p:nvPr/>
        </p:nvSpPr>
        <p:spPr>
          <a:xfrm>
            <a:off x="5461000" y="1460500"/>
            <a:ext cx="3174900" cy="30480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0" name="Google Shape;20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2600" y="1871218"/>
            <a:ext cx="2971800" cy="2226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8"/>
          <p:cNvSpPr txBox="1"/>
          <p:nvPr/>
        </p:nvSpPr>
        <p:spPr>
          <a:xfrm>
            <a:off x="508000" y="381000"/>
            <a:ext cx="50799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100">
                <a:solidFill>
                  <a:srgbClr val="34D399"/>
                </a:solidFill>
              </a:rPr>
              <a:t>🤝 OPVOEDING &amp; VEILIGHEID</a:t>
            </a:r>
            <a:endParaRPr b="1" sz="1100">
              <a:solidFill>
                <a:srgbClr val="34D399"/>
              </a:solidFill>
            </a:endParaRPr>
          </a:p>
        </p:txBody>
      </p:sp>
      <p:sp>
        <p:nvSpPr>
          <p:cNvPr id="206" name="Google Shape;206;p28"/>
          <p:cNvSpPr txBox="1"/>
          <p:nvPr/>
        </p:nvSpPr>
        <p:spPr>
          <a:xfrm>
            <a:off x="508000" y="698500"/>
            <a:ext cx="81279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3400">
                <a:solidFill>
                  <a:srgbClr val="FFFFFF"/>
                </a:solidFill>
              </a:rPr>
              <a:t>Hoe GPT ChatGPT Werd</a:t>
            </a:r>
            <a:endParaRPr b="1" sz="3400">
              <a:solidFill>
                <a:srgbClr val="FFFFFF"/>
              </a:solidFill>
            </a:endParaRPr>
          </a:p>
        </p:txBody>
      </p:sp>
      <p:sp>
        <p:nvSpPr>
          <p:cNvPr id="207" name="Google Shape;207;p28"/>
          <p:cNvSpPr/>
          <p:nvPr/>
        </p:nvSpPr>
        <p:spPr>
          <a:xfrm>
            <a:off x="508000" y="1460500"/>
            <a:ext cx="4698900" cy="30480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300">
                <a:solidFill>
                  <a:srgbClr val="FFFFFF"/>
                </a:solidFill>
              </a:rPr>
              <a:t>👨‍🏫 Twee Fasen van Training</a:t>
            </a:r>
            <a:endParaRPr b="1" sz="13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• Stap 1: Pre-training (Het ruwe model)</a:t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  Heeft het hele internet gelezen. Kan zinnen afmaken, maar is onbehouwen, chaotisch of onbeleefd.</a:t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• Stap 2: Fine-Tuning met Mensen (RLHF)</a:t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  Menselijke trainers belonen behulpzame, beleefde en veilige antwoorden.</a:t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• Zo verandert een tekstvoorspeller in een prettige gesprekspartner: ChatGPT, Copilot of Gemini.</a:t>
            </a:r>
            <a:endParaRPr sz="1100">
              <a:solidFill>
                <a:srgbClr val="CBD5E1"/>
              </a:solidFill>
            </a:endParaRPr>
          </a:p>
        </p:txBody>
      </p:sp>
      <p:sp>
        <p:nvSpPr>
          <p:cNvPr id="208" name="Google Shape;208;p28"/>
          <p:cNvSpPr/>
          <p:nvPr/>
        </p:nvSpPr>
        <p:spPr>
          <a:xfrm>
            <a:off x="5461000" y="1460500"/>
            <a:ext cx="3174900" cy="30480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9" name="Google Shape;20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2600" y="2095246"/>
            <a:ext cx="2971800" cy="1778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9"/>
          <p:cNvSpPr txBox="1"/>
          <p:nvPr/>
        </p:nvSpPr>
        <p:spPr>
          <a:xfrm>
            <a:off x="508000" y="381000"/>
            <a:ext cx="50799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100">
                <a:solidFill>
                  <a:srgbClr val="38BDF8"/>
                </a:solidFill>
              </a:rPr>
              <a:t>⚡ DE NIEUWSTE ONTWIKKELINGEN</a:t>
            </a:r>
            <a:endParaRPr b="1" sz="1100">
              <a:solidFill>
                <a:srgbClr val="38BDF8"/>
              </a:solidFill>
            </a:endParaRPr>
          </a:p>
        </p:txBody>
      </p:sp>
      <p:sp>
        <p:nvSpPr>
          <p:cNvPr id="215" name="Google Shape;215;p29"/>
          <p:cNvSpPr txBox="1"/>
          <p:nvPr/>
        </p:nvSpPr>
        <p:spPr>
          <a:xfrm>
            <a:off x="508000" y="698500"/>
            <a:ext cx="81279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3400">
                <a:solidFill>
                  <a:srgbClr val="FFFFFF"/>
                </a:solidFill>
              </a:rPr>
              <a:t>Verder dan Alleen Woordjes Typen</a:t>
            </a:r>
            <a:endParaRPr b="1" sz="3400">
              <a:solidFill>
                <a:srgbClr val="FFFFFF"/>
              </a:solidFill>
            </a:endParaRPr>
          </a:p>
        </p:txBody>
      </p:sp>
      <p:sp>
        <p:nvSpPr>
          <p:cNvPr id="216" name="Google Shape;216;p29"/>
          <p:cNvSpPr/>
          <p:nvPr/>
        </p:nvSpPr>
        <p:spPr>
          <a:xfrm>
            <a:off x="508000" y="1460500"/>
            <a:ext cx="4698900" cy="30480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300">
                <a:solidFill>
                  <a:srgbClr val="FFFFFF"/>
                </a:solidFill>
              </a:rPr>
              <a:t>👁️ Kijken, Luisteren &amp; Redeneren</a:t>
            </a:r>
            <a:endParaRPr b="1" sz="13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• Multimodaal (Vision &amp; Audio)</a:t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  Tegelijk getraind op tekst, foto's, video en stemmen. Maak een foto van een meterkast en krijg direct mondeling advies.</a:t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• Redeneermodellen (Reasoning)</a:t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  Modellen zoals OpenAI o1 en DeepSeek-R1 typen niet direct, maar 'denken eerst na' via interne tussenstappen (Chain-of-Thought) voor complexe logica.</a:t>
            </a:r>
            <a:endParaRPr sz="1100">
              <a:solidFill>
                <a:srgbClr val="CBD5E1"/>
              </a:solidFill>
            </a:endParaRPr>
          </a:p>
        </p:txBody>
      </p:sp>
      <p:sp>
        <p:nvSpPr>
          <p:cNvPr id="217" name="Google Shape;217;p29"/>
          <p:cNvSpPr/>
          <p:nvPr/>
        </p:nvSpPr>
        <p:spPr>
          <a:xfrm>
            <a:off x="5461000" y="1460500"/>
            <a:ext cx="3174900" cy="30480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8" name="Google Shape;21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2600" y="2227834"/>
            <a:ext cx="2971800" cy="15133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0"/>
          <p:cNvSpPr txBox="1"/>
          <p:nvPr/>
        </p:nvSpPr>
        <p:spPr>
          <a:xfrm>
            <a:off x="508000" y="381000"/>
            <a:ext cx="50799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100">
                <a:solidFill>
                  <a:srgbClr val="FBBF24"/>
                </a:solidFill>
              </a:rPr>
              <a:t>🏆 MEER DAN EEN CHATBOT</a:t>
            </a:r>
            <a:endParaRPr b="1" sz="1100">
              <a:solidFill>
                <a:srgbClr val="FBBF24"/>
              </a:solidFill>
            </a:endParaRPr>
          </a:p>
        </p:txBody>
      </p:sp>
      <p:sp>
        <p:nvSpPr>
          <p:cNvPr id="224" name="Google Shape;224;p30"/>
          <p:cNvSpPr txBox="1"/>
          <p:nvPr/>
        </p:nvSpPr>
        <p:spPr>
          <a:xfrm>
            <a:off x="508000" y="698500"/>
            <a:ext cx="81279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3400">
                <a:solidFill>
                  <a:srgbClr val="FFFFFF"/>
                </a:solidFill>
              </a:rPr>
              <a:t>Van Spelletjes naar Levensredders</a:t>
            </a:r>
            <a:endParaRPr b="1" sz="3400">
              <a:solidFill>
                <a:srgbClr val="FFFFFF"/>
              </a:solidFill>
            </a:endParaRPr>
          </a:p>
        </p:txBody>
      </p:sp>
      <p:sp>
        <p:nvSpPr>
          <p:cNvPr id="225" name="Google Shape;225;p30"/>
          <p:cNvSpPr/>
          <p:nvPr/>
        </p:nvSpPr>
        <p:spPr>
          <a:xfrm>
            <a:off x="508000" y="1460500"/>
            <a:ext cx="4698900" cy="14604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300">
                <a:solidFill>
                  <a:srgbClr val="FFFFFF"/>
                </a:solidFill>
              </a:rPr>
              <a:t>♟️ AlphaGo &amp; AlphaZero (DeepMind)</a:t>
            </a:r>
            <a:endParaRPr b="1" sz="13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• Beheersten Go en schaken door puur tegen zichzelf te spelen</a:t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• Versloeg menselijke wereldkampioenen na slechts 4 uur trainen</a:t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• Garry Kasparov: "Buitenaards intuïtieve manier van schaken"</a:t>
            </a:r>
            <a:endParaRPr sz="1100">
              <a:solidFill>
                <a:srgbClr val="CBD5E1"/>
              </a:solidFill>
            </a:endParaRPr>
          </a:p>
        </p:txBody>
      </p:sp>
      <p:sp>
        <p:nvSpPr>
          <p:cNvPr id="226" name="Google Shape;226;p30"/>
          <p:cNvSpPr/>
          <p:nvPr/>
        </p:nvSpPr>
        <p:spPr>
          <a:xfrm>
            <a:off x="508000" y="3048000"/>
            <a:ext cx="4698900" cy="14604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300">
                <a:solidFill>
                  <a:srgbClr val="FFFFFF"/>
                </a:solidFill>
              </a:rPr>
              <a:t>🧬 AlphaFold (Nobelprijs Scheikunde 2024)</a:t>
            </a:r>
            <a:endParaRPr b="1" sz="13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• Loste het 50 jaar oude biologische "eiwitvouwraadsel" op</a:t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• Voorspelde de 3D-structuur van 200 miljoen eiwitten</a:t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• Essentieel voor medicijnontwikkeling tegen kanker en ziektes</a:t>
            </a:r>
            <a:endParaRPr sz="1100">
              <a:solidFill>
                <a:srgbClr val="CBD5E1"/>
              </a:solidFill>
            </a:endParaRPr>
          </a:p>
        </p:txBody>
      </p:sp>
      <p:sp>
        <p:nvSpPr>
          <p:cNvPr id="227" name="Google Shape;227;p30"/>
          <p:cNvSpPr/>
          <p:nvPr/>
        </p:nvSpPr>
        <p:spPr>
          <a:xfrm>
            <a:off x="5461000" y="1460500"/>
            <a:ext cx="3174900" cy="30480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8" name="Google Shape;22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2600" y="2150110"/>
            <a:ext cx="2971800" cy="16687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1"/>
          <p:cNvSpPr txBox="1"/>
          <p:nvPr/>
        </p:nvSpPr>
        <p:spPr>
          <a:xfrm>
            <a:off x="508000" y="381000"/>
            <a:ext cx="50799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100">
                <a:solidFill>
                  <a:srgbClr val="34D399"/>
                </a:solidFill>
              </a:rPr>
              <a:t>🎯 DE BRUG NAAR VANDAAG</a:t>
            </a:r>
            <a:endParaRPr b="1" sz="1100">
              <a:solidFill>
                <a:srgbClr val="34D399"/>
              </a:solidFill>
            </a:endParaRPr>
          </a:p>
        </p:txBody>
      </p:sp>
      <p:sp>
        <p:nvSpPr>
          <p:cNvPr id="234" name="Google Shape;234;p31"/>
          <p:cNvSpPr txBox="1"/>
          <p:nvPr/>
        </p:nvSpPr>
        <p:spPr>
          <a:xfrm>
            <a:off x="508000" y="698500"/>
            <a:ext cx="81279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3400">
                <a:solidFill>
                  <a:srgbClr val="FFFFFF"/>
                </a:solidFill>
              </a:rPr>
              <a:t>3 Gouden Regels voor de Praktijk</a:t>
            </a:r>
            <a:endParaRPr b="1" sz="3400">
              <a:solidFill>
                <a:srgbClr val="FFFFFF"/>
              </a:solidFill>
            </a:endParaRPr>
          </a:p>
        </p:txBody>
      </p:sp>
      <p:sp>
        <p:nvSpPr>
          <p:cNvPr id="235" name="Google Shape;235;p31"/>
          <p:cNvSpPr/>
          <p:nvPr/>
        </p:nvSpPr>
        <p:spPr>
          <a:xfrm>
            <a:off x="508000" y="1460500"/>
            <a:ext cx="2540100" cy="28575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300">
                <a:solidFill>
                  <a:srgbClr val="FFFFFF"/>
                </a:solidFill>
              </a:rPr>
              <a:t>1️⃣ Verifieer Altijd</a:t>
            </a:r>
            <a:endParaRPr b="1" sz="13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• Vertrouw nooit blind op feiten of bronnen.</a:t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• AI is geen waarheidsmachine, maar een patroongenerator.</a:t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• Controleer jaartallen, namen en citaten altijd zelf.</a:t>
            </a:r>
            <a:endParaRPr sz="1100">
              <a:solidFill>
                <a:srgbClr val="CBD5E1"/>
              </a:solidFill>
            </a:endParaRPr>
          </a:p>
        </p:txBody>
      </p:sp>
      <p:sp>
        <p:nvSpPr>
          <p:cNvPr id="236" name="Google Shape;236;p31"/>
          <p:cNvSpPr/>
          <p:nvPr/>
        </p:nvSpPr>
        <p:spPr>
          <a:xfrm>
            <a:off x="3302000" y="1460500"/>
            <a:ext cx="2540100" cy="28575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300">
                <a:solidFill>
                  <a:srgbClr val="FFFFFF"/>
                </a:solidFill>
              </a:rPr>
              <a:t>2️⃣ Context is Koning</a:t>
            </a:r>
            <a:endParaRPr b="1" sz="13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• Hoe vager de vraag, hoe saaier het antwoord.</a:t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• Geef een duidelijke rol mee (Persona: "Reageer als ervaren redacteur").</a:t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• Noem doelgroep, gewenste toon en randvoorwaarden.</a:t>
            </a:r>
            <a:endParaRPr sz="1100">
              <a:solidFill>
                <a:srgbClr val="CBD5E1"/>
              </a:solidFill>
            </a:endParaRPr>
          </a:p>
        </p:txBody>
      </p:sp>
      <p:sp>
        <p:nvSpPr>
          <p:cNvPr id="237" name="Google Shape;237;p31"/>
          <p:cNvSpPr/>
          <p:nvPr/>
        </p:nvSpPr>
        <p:spPr>
          <a:xfrm>
            <a:off x="6096000" y="1460500"/>
            <a:ext cx="2540100" cy="28575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300">
                <a:solidFill>
                  <a:srgbClr val="FFFFFF"/>
                </a:solidFill>
              </a:rPr>
              <a:t>3️⃣ Jij bent Regisseur</a:t>
            </a:r>
            <a:endParaRPr b="1" sz="13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• AI levert denksnelheid, variaties en ruwe concepten.</a:t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• Jij bewaakt het eindresultaat, de menselijke toon en de verantwoordelijkheid.</a:t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• Zie AI als je supersnelle stagiair!</a:t>
            </a:r>
            <a:endParaRPr sz="1100">
              <a:solidFill>
                <a:srgbClr val="CBD5E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2"/>
          <p:cNvSpPr txBox="1"/>
          <p:nvPr/>
        </p:nvSpPr>
        <p:spPr>
          <a:xfrm>
            <a:off x="508000" y="381000"/>
            <a:ext cx="50799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100">
                <a:solidFill>
                  <a:srgbClr val="38BDF8"/>
                </a:solidFill>
              </a:rPr>
              <a:t>💻 DEEL 2 VAN DE LES</a:t>
            </a:r>
            <a:endParaRPr b="1" sz="1100">
              <a:solidFill>
                <a:srgbClr val="38BDF8"/>
              </a:solidFill>
            </a:endParaRPr>
          </a:p>
        </p:txBody>
      </p:sp>
      <p:sp>
        <p:nvSpPr>
          <p:cNvPr id="243" name="Google Shape;243;p32"/>
          <p:cNvSpPr txBox="1"/>
          <p:nvPr/>
        </p:nvSpPr>
        <p:spPr>
          <a:xfrm>
            <a:off x="508000" y="698500"/>
            <a:ext cx="81279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3400">
                <a:solidFill>
                  <a:srgbClr val="FFFFFF"/>
                </a:solidFill>
              </a:rPr>
              <a:t>Laptops Open: Aan de Slag!</a:t>
            </a:r>
            <a:endParaRPr b="1" sz="3400">
              <a:solidFill>
                <a:srgbClr val="FFFFFF"/>
              </a:solidFill>
            </a:endParaRPr>
          </a:p>
        </p:txBody>
      </p:sp>
      <p:sp>
        <p:nvSpPr>
          <p:cNvPr id="244" name="Google Shape;244;p32"/>
          <p:cNvSpPr/>
          <p:nvPr/>
        </p:nvSpPr>
        <p:spPr>
          <a:xfrm>
            <a:off x="508000" y="1460500"/>
            <a:ext cx="8127900" cy="7620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300">
                <a:solidFill>
                  <a:srgbClr val="FFFFFF"/>
                </a:solidFill>
              </a:rPr>
              <a:t>✍️ Slim Schrijven &amp; Herschrijven: </a:t>
            </a:r>
            <a:r>
              <a:rPr lang="nl" sz="1200">
                <a:solidFill>
                  <a:srgbClr val="CBD5E1"/>
                </a:solidFill>
              </a:rPr>
              <a:t>Een stroeve formele brief omzetten naar een vriendelijke, heldere e-mail in jouw eigen stijl.</a:t>
            </a:r>
            <a:endParaRPr sz="1200">
              <a:solidFill>
                <a:srgbClr val="CBD5E1"/>
              </a:solidFill>
            </a:endParaRPr>
          </a:p>
        </p:txBody>
      </p:sp>
      <p:sp>
        <p:nvSpPr>
          <p:cNvPr id="245" name="Google Shape;245;p32"/>
          <p:cNvSpPr/>
          <p:nvPr/>
        </p:nvSpPr>
        <p:spPr>
          <a:xfrm>
            <a:off x="508000" y="2349500"/>
            <a:ext cx="8127900" cy="7620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300">
                <a:solidFill>
                  <a:srgbClr val="FFFFFF"/>
                </a:solidFill>
              </a:rPr>
              <a:t>📑 Informatie Temmen: </a:t>
            </a:r>
            <a:r>
              <a:rPr lang="nl" sz="1200">
                <a:solidFill>
                  <a:srgbClr val="CBD5E1"/>
                </a:solidFill>
              </a:rPr>
              <a:t>Een taai rapport of lang artikel invoeren en in seconden een scherpe samenvatting van 3 punten krijgen.</a:t>
            </a:r>
            <a:endParaRPr sz="1200">
              <a:solidFill>
                <a:srgbClr val="CBD5E1"/>
              </a:solidFill>
            </a:endParaRPr>
          </a:p>
        </p:txBody>
      </p:sp>
      <p:sp>
        <p:nvSpPr>
          <p:cNvPr id="246" name="Google Shape;246;p32"/>
          <p:cNvSpPr/>
          <p:nvPr/>
        </p:nvSpPr>
        <p:spPr>
          <a:xfrm>
            <a:off x="508000" y="3238500"/>
            <a:ext cx="8127900" cy="7620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300">
                <a:solidFill>
                  <a:srgbClr val="FFFFFF"/>
                </a:solidFill>
              </a:rPr>
              <a:t>🎯 Prompt-technieken in de Praktijk: </a:t>
            </a:r>
            <a:r>
              <a:rPr lang="nl" sz="1200">
                <a:solidFill>
                  <a:srgbClr val="CBD5E1"/>
                </a:solidFill>
              </a:rPr>
              <a:t>Experimenteren met verschillende Persona's, context en vervolgvragen (doorvragen).</a:t>
            </a:r>
            <a:endParaRPr sz="1200">
              <a:solidFill>
                <a:srgbClr val="CBD5E1"/>
              </a:solidFill>
            </a:endParaRPr>
          </a:p>
        </p:txBody>
      </p:sp>
      <p:sp>
        <p:nvSpPr>
          <p:cNvPr id="247" name="Google Shape;247;p32"/>
          <p:cNvSpPr/>
          <p:nvPr/>
        </p:nvSpPr>
        <p:spPr>
          <a:xfrm>
            <a:off x="508000" y="4127500"/>
            <a:ext cx="8127900" cy="6984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90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200">
                <a:solidFill>
                  <a:srgbClr val="38BDF8"/>
                </a:solidFill>
              </a:rPr>
              <a:t>🚀 Start je favoriete AI-tool (ChatGPT, Copilot of Gemini)</a:t>
            </a:r>
            <a:endParaRPr b="1" sz="1200">
              <a:solidFill>
                <a:srgbClr val="38BDF8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Klap je laptop open, open je browser en laten we beginnen met de eerste oefening!</a:t>
            </a:r>
            <a:endParaRPr sz="1100">
              <a:solidFill>
                <a:srgbClr val="CBD5E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3"/>
          <p:cNvSpPr txBox="1"/>
          <p:nvPr/>
        </p:nvSpPr>
        <p:spPr>
          <a:xfrm>
            <a:off x="508000" y="381000"/>
            <a:ext cx="50799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100">
                <a:solidFill>
                  <a:srgbClr val="38BDF8"/>
                </a:solidFill>
              </a:rPr>
              <a:t>🧭 SPEELVELD • NIVEAU 1</a:t>
            </a:r>
            <a:endParaRPr b="1" sz="1100">
              <a:solidFill>
                <a:srgbClr val="38BDF8"/>
              </a:solidFill>
            </a:endParaRPr>
          </a:p>
        </p:txBody>
      </p:sp>
      <p:sp>
        <p:nvSpPr>
          <p:cNvPr id="253" name="Google Shape;253;p33"/>
          <p:cNvSpPr txBox="1"/>
          <p:nvPr/>
        </p:nvSpPr>
        <p:spPr>
          <a:xfrm>
            <a:off x="508000" y="698500"/>
            <a:ext cx="81279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3400">
                <a:solidFill>
                  <a:srgbClr val="FFFFFF"/>
                </a:solidFill>
              </a:rPr>
              <a:t>De Grote Vier Chat-Apps</a:t>
            </a:r>
            <a:endParaRPr b="1" sz="3400">
              <a:solidFill>
                <a:srgbClr val="FFFFFF"/>
              </a:solidFill>
            </a:endParaRPr>
          </a:p>
        </p:txBody>
      </p:sp>
      <p:sp>
        <p:nvSpPr>
          <p:cNvPr id="254" name="Google Shape;254;p33"/>
          <p:cNvSpPr txBox="1"/>
          <p:nvPr/>
        </p:nvSpPr>
        <p:spPr>
          <a:xfrm>
            <a:off x="508000" y="1333500"/>
            <a:ext cx="81279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>
                <a:solidFill>
                  <a:srgbClr val="94A3B8"/>
                </a:solidFill>
              </a:rPr>
              <a:t>ChatGPT als referentiepunt: wanneer kies je een andere assistent?</a:t>
            </a:r>
            <a:endParaRPr sz="1300">
              <a:solidFill>
                <a:srgbClr val="94A3B8"/>
              </a:solidFill>
            </a:endParaRPr>
          </a:p>
        </p:txBody>
      </p:sp>
      <p:sp>
        <p:nvSpPr>
          <p:cNvPr id="255" name="Google Shape;255;p33"/>
          <p:cNvSpPr/>
          <p:nvPr/>
        </p:nvSpPr>
        <p:spPr>
          <a:xfrm>
            <a:off x="508000" y="1714500"/>
            <a:ext cx="3936900" cy="13335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300">
                <a:solidFill>
                  <a:srgbClr val="FFFFFF"/>
                </a:solidFill>
              </a:rPr>
              <a:t>🤖 ChatGPT (OpenAI)</a:t>
            </a:r>
            <a:endParaRPr b="1" sz="13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• De vertrouwde allrounder waar iedereen mee begint</a:t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• Sterk in brainstormen, vloeiende teksten en DALL-E beelden</a:t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• De standaard waartegen alle andere modellen worden afgezet</a:t>
            </a:r>
            <a:endParaRPr sz="1100">
              <a:solidFill>
                <a:srgbClr val="CBD5E1"/>
              </a:solidFill>
            </a:endParaRPr>
          </a:p>
        </p:txBody>
      </p:sp>
      <p:sp>
        <p:nvSpPr>
          <p:cNvPr id="256" name="Google Shape;256;p33"/>
          <p:cNvSpPr/>
          <p:nvPr/>
        </p:nvSpPr>
        <p:spPr>
          <a:xfrm>
            <a:off x="4699000" y="1714500"/>
            <a:ext cx="3936900" cy="13335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300">
                <a:solidFill>
                  <a:srgbClr val="FFFFFF"/>
                </a:solidFill>
              </a:rPr>
              <a:t>💎 Google Gemini</a:t>
            </a:r>
            <a:endParaRPr b="1" sz="13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• Gigantisch contextvenster (hele boeken of video's in 1 prompt!)</a:t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• Direct gekoppeld aan Google Drive, Gmail en Google Docs</a:t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• Ideaal voor wie al veel in het Google-ecosysteem werkt</a:t>
            </a:r>
            <a:endParaRPr sz="1100">
              <a:solidFill>
                <a:srgbClr val="CBD5E1"/>
              </a:solidFill>
            </a:endParaRPr>
          </a:p>
        </p:txBody>
      </p:sp>
      <p:sp>
        <p:nvSpPr>
          <p:cNvPr id="257" name="Google Shape;257;p33"/>
          <p:cNvSpPr/>
          <p:nvPr/>
        </p:nvSpPr>
        <p:spPr>
          <a:xfrm>
            <a:off x="508000" y="3175000"/>
            <a:ext cx="3936900" cy="13335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300">
                <a:solidFill>
                  <a:srgbClr val="FFFFFF"/>
                </a:solidFill>
              </a:rPr>
              <a:t>🧠 Claude (Anthropic)</a:t>
            </a:r>
            <a:endParaRPr b="1" sz="13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• Schrijft het meest natuurlijke, genuanceerde Nederlands</a:t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• Veel minder 'Amerikaans/plastic' of wollig dan ChatGPT</a:t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• Ongeëvenaard in logica, lange analyses en diep redeneren</a:t>
            </a:r>
            <a:endParaRPr sz="1100">
              <a:solidFill>
                <a:srgbClr val="CBD5E1"/>
              </a:solidFill>
            </a:endParaRPr>
          </a:p>
        </p:txBody>
      </p:sp>
      <p:sp>
        <p:nvSpPr>
          <p:cNvPr id="258" name="Google Shape;258;p33"/>
          <p:cNvSpPr/>
          <p:nvPr/>
        </p:nvSpPr>
        <p:spPr>
          <a:xfrm>
            <a:off x="4699000" y="3175000"/>
            <a:ext cx="3936900" cy="13335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300">
                <a:solidFill>
                  <a:srgbClr val="FFFFFF"/>
                </a:solidFill>
              </a:rPr>
              <a:t>💼 Microsoft Copilot</a:t>
            </a:r>
            <a:endParaRPr b="1" sz="13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• Direct geïntegreerd in Windows, Edge en Microsoft 365</a:t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• Ondersteunt direct in Word, Excel en PowerPoint</a:t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• Handig voor zakelijk gebruik en kantoorautomatisering</a:t>
            </a:r>
            <a:endParaRPr sz="1100">
              <a:solidFill>
                <a:srgbClr val="CBD5E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4"/>
          <p:cNvSpPr txBox="1"/>
          <p:nvPr/>
        </p:nvSpPr>
        <p:spPr>
          <a:xfrm>
            <a:off x="508000" y="381000"/>
            <a:ext cx="50799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100">
                <a:solidFill>
                  <a:srgbClr val="C084FC"/>
                </a:solidFill>
              </a:rPr>
              <a:t>📚 DOCUMENTEN TEMMEN • NIVEAU 2</a:t>
            </a:r>
            <a:endParaRPr b="1" sz="1100">
              <a:solidFill>
                <a:srgbClr val="C084FC"/>
              </a:solidFill>
            </a:endParaRPr>
          </a:p>
        </p:txBody>
      </p:sp>
      <p:sp>
        <p:nvSpPr>
          <p:cNvPr id="264" name="Google Shape;264;p34"/>
          <p:cNvSpPr txBox="1"/>
          <p:nvPr/>
        </p:nvSpPr>
        <p:spPr>
          <a:xfrm>
            <a:off x="508000" y="698500"/>
            <a:ext cx="81279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3200">
                <a:solidFill>
                  <a:srgbClr val="FFFFFF"/>
                </a:solidFill>
              </a:rPr>
              <a:t>NotebookLM: Grip op je Eigen Bronnen</a:t>
            </a:r>
            <a:endParaRPr b="1" sz="3200">
              <a:solidFill>
                <a:srgbClr val="FFFFFF"/>
              </a:solidFill>
            </a:endParaRPr>
          </a:p>
        </p:txBody>
      </p:sp>
      <p:sp>
        <p:nvSpPr>
          <p:cNvPr id="265" name="Google Shape;265;p34"/>
          <p:cNvSpPr txBox="1"/>
          <p:nvPr/>
        </p:nvSpPr>
        <p:spPr>
          <a:xfrm>
            <a:off x="508000" y="1333500"/>
            <a:ext cx="81279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>
                <a:solidFill>
                  <a:srgbClr val="94A3B8"/>
                </a:solidFill>
              </a:rPr>
              <a:t>Geen hallucinaties: uitsluitend antwoorden gebaseerd op jóuw documenten</a:t>
            </a:r>
            <a:endParaRPr sz="1300">
              <a:solidFill>
                <a:srgbClr val="94A3B8"/>
              </a:solidFill>
            </a:endParaRPr>
          </a:p>
        </p:txBody>
      </p:sp>
      <p:sp>
        <p:nvSpPr>
          <p:cNvPr id="266" name="Google Shape;266;p34"/>
          <p:cNvSpPr/>
          <p:nvPr/>
        </p:nvSpPr>
        <p:spPr>
          <a:xfrm>
            <a:off x="508000" y="1714500"/>
            <a:ext cx="3936900" cy="17781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300">
                <a:solidFill>
                  <a:srgbClr val="FFFFFF"/>
                </a:solidFill>
              </a:rPr>
              <a:t>📁 Hoe Werkt Het?</a:t>
            </a:r>
            <a:endParaRPr b="1" sz="13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• Upload je eigen documenten: PDF's, Word-bestanden, notities of weblinks (tot 50 bronnen per notitieblok)</a:t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• Stel gerichte vragen: "Wat waren de afspraken in 2024?", "Maak een tijdlijn" of "Waar spreken de stukken elkaar tegen?"</a:t>
            </a:r>
            <a:endParaRPr sz="1100">
              <a:solidFill>
                <a:srgbClr val="CBD5E1"/>
              </a:solidFill>
            </a:endParaRPr>
          </a:p>
        </p:txBody>
      </p:sp>
      <p:sp>
        <p:nvSpPr>
          <p:cNvPr id="267" name="Google Shape;267;p34"/>
          <p:cNvSpPr/>
          <p:nvPr/>
        </p:nvSpPr>
        <p:spPr>
          <a:xfrm>
            <a:off x="4699000" y="1714500"/>
            <a:ext cx="3936900" cy="17781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300">
                <a:solidFill>
                  <a:srgbClr val="FFFFFF"/>
                </a:solidFill>
              </a:rPr>
              <a:t>✨ Waarom is dit een Eye-opener?</a:t>
            </a:r>
            <a:endParaRPr b="1" sz="13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• Vrijwel 0% kans op hallucinaties: het model weet alleen wat in jouw bronnen staat</a:t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• Elk antwoord heeft klikbare voetnoten naar de exacte alinea in jouw bron</a:t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• Volledig gratis te gebruiken met een Google-account</a:t>
            </a:r>
            <a:endParaRPr sz="1100">
              <a:solidFill>
                <a:srgbClr val="CBD5E1"/>
              </a:solidFill>
            </a:endParaRPr>
          </a:p>
        </p:txBody>
      </p:sp>
      <p:sp>
        <p:nvSpPr>
          <p:cNvPr id="268" name="Google Shape;268;p34"/>
          <p:cNvSpPr/>
          <p:nvPr/>
        </p:nvSpPr>
        <p:spPr>
          <a:xfrm>
            <a:off x="508000" y="3619500"/>
            <a:ext cx="8127900" cy="9525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90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200">
                <a:solidFill>
                  <a:srgbClr val="38BDF8"/>
                </a:solidFill>
              </a:rPr>
              <a:t>🎙️ De 'Audio Overview' (Podcast Generatie)</a:t>
            </a:r>
            <a:endParaRPr b="1" sz="1200">
              <a:solidFill>
                <a:srgbClr val="38BDF8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Met één klik tovert NotebookLM jouw taaie documenten om in een levendig Engels radiogesprek tussen twee AI-presentatoren die jouw dossier bespreken!</a:t>
            </a:r>
            <a:endParaRPr sz="1100">
              <a:solidFill>
                <a:srgbClr val="CBD5E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5"/>
          <p:cNvSpPr txBox="1"/>
          <p:nvPr/>
        </p:nvSpPr>
        <p:spPr>
          <a:xfrm>
            <a:off x="508000" y="381000"/>
            <a:ext cx="50799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100">
                <a:solidFill>
                  <a:srgbClr val="34D399"/>
                </a:solidFill>
              </a:rPr>
              <a:t>🚀 DE TOEKOMST • NIVEAU 3</a:t>
            </a:r>
            <a:endParaRPr b="1" sz="1100">
              <a:solidFill>
                <a:srgbClr val="34D399"/>
              </a:solidFill>
            </a:endParaRPr>
          </a:p>
        </p:txBody>
      </p:sp>
      <p:sp>
        <p:nvSpPr>
          <p:cNvPr id="274" name="Google Shape;274;p35"/>
          <p:cNvSpPr txBox="1"/>
          <p:nvPr/>
        </p:nvSpPr>
        <p:spPr>
          <a:xfrm>
            <a:off x="508000" y="698500"/>
            <a:ext cx="81279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3400">
                <a:solidFill>
                  <a:srgbClr val="FFFFFF"/>
                </a:solidFill>
              </a:rPr>
              <a:t>Van 'Praten' naar 'Zelf Doen'</a:t>
            </a:r>
            <a:endParaRPr b="1" sz="3400">
              <a:solidFill>
                <a:srgbClr val="FFFFFF"/>
              </a:solidFill>
            </a:endParaRPr>
          </a:p>
        </p:txBody>
      </p:sp>
      <p:sp>
        <p:nvSpPr>
          <p:cNvPr id="275" name="Google Shape;275;p35"/>
          <p:cNvSpPr txBox="1"/>
          <p:nvPr/>
        </p:nvSpPr>
        <p:spPr>
          <a:xfrm>
            <a:off x="508000" y="1333500"/>
            <a:ext cx="81279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>
                <a:solidFill>
                  <a:srgbClr val="94A3B8"/>
                </a:solidFill>
              </a:rPr>
              <a:t>AI Agents die software bouwen, bestanden beheren en taken uitvoeren</a:t>
            </a:r>
            <a:endParaRPr sz="1300">
              <a:solidFill>
                <a:srgbClr val="94A3B8"/>
              </a:solidFill>
            </a:endParaRPr>
          </a:p>
        </p:txBody>
      </p:sp>
      <p:sp>
        <p:nvSpPr>
          <p:cNvPr id="276" name="Google Shape;276;p35"/>
          <p:cNvSpPr/>
          <p:nvPr/>
        </p:nvSpPr>
        <p:spPr>
          <a:xfrm>
            <a:off x="508000" y="1714500"/>
            <a:ext cx="4698900" cy="16509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300">
                <a:solidFill>
                  <a:srgbClr val="FFFFFF"/>
                </a:solidFill>
              </a:rPr>
              <a:t>⚡ Het Verschil met ChatGPT</a:t>
            </a:r>
            <a:endParaRPr b="1" sz="13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• Een Chat-app adviseert: hij typt tekst op je scherm, maar jij moet zelf knippen, plakken en uitvoeren.</a:t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• Een AI Agent heeft "handen": hij krijgt een doel ("bouw een website voor mijn club"), maakt bestanden aan, voert code uit en test het zélf!</a:t>
            </a:r>
            <a:endParaRPr sz="1100">
              <a:solidFill>
                <a:srgbClr val="CBD5E1"/>
              </a:solidFill>
            </a:endParaRPr>
          </a:p>
        </p:txBody>
      </p:sp>
      <p:sp>
        <p:nvSpPr>
          <p:cNvPr id="277" name="Google Shape;277;p35"/>
          <p:cNvSpPr/>
          <p:nvPr/>
        </p:nvSpPr>
        <p:spPr>
          <a:xfrm>
            <a:off x="508000" y="3492500"/>
            <a:ext cx="4698900" cy="10161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90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200">
                <a:solidFill>
                  <a:srgbClr val="38BDF8"/>
                </a:solidFill>
              </a:rPr>
              <a:t>🛠️ De Nieuwe Generatie Bouwers</a:t>
            </a:r>
            <a:endParaRPr b="1" sz="1200">
              <a:solidFill>
                <a:srgbClr val="38BDF8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Claude Code, Google Antigravity &amp; Codex: zelfstandig werkende agents die complete websites en programma's ontwikkelen.</a:t>
            </a:r>
            <a:endParaRPr sz="1100">
              <a:solidFill>
                <a:srgbClr val="CBD5E1"/>
              </a:solidFill>
            </a:endParaRPr>
          </a:p>
        </p:txBody>
      </p:sp>
      <p:sp>
        <p:nvSpPr>
          <p:cNvPr id="278" name="Google Shape;278;p35"/>
          <p:cNvSpPr/>
          <p:nvPr/>
        </p:nvSpPr>
        <p:spPr>
          <a:xfrm>
            <a:off x="5461000" y="1714500"/>
            <a:ext cx="3174900" cy="27939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9" name="Google Shape;27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9700" y="2120300"/>
            <a:ext cx="3057174" cy="174495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6"/>
          <p:cNvSpPr txBox="1"/>
          <p:nvPr/>
        </p:nvSpPr>
        <p:spPr>
          <a:xfrm>
            <a:off x="508000" y="381000"/>
            <a:ext cx="50799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100">
                <a:solidFill>
                  <a:srgbClr val="38BDF8"/>
                </a:solidFill>
              </a:rPr>
              <a:t>🎯 PROMPTING TECHNIEK</a:t>
            </a:r>
            <a:endParaRPr b="1" sz="1100">
              <a:solidFill>
                <a:srgbClr val="38BDF8"/>
              </a:solidFill>
            </a:endParaRPr>
          </a:p>
        </p:txBody>
      </p:sp>
      <p:sp>
        <p:nvSpPr>
          <p:cNvPr id="285" name="Google Shape;285;p36"/>
          <p:cNvSpPr txBox="1"/>
          <p:nvPr/>
        </p:nvSpPr>
        <p:spPr>
          <a:xfrm>
            <a:off x="508000" y="698500"/>
            <a:ext cx="81279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3400">
                <a:solidFill>
                  <a:srgbClr val="FFFFFF"/>
                </a:solidFill>
              </a:rPr>
              <a:t>De Gouden Promptformule: RCTK</a:t>
            </a:r>
            <a:endParaRPr b="1" sz="3400">
              <a:solidFill>
                <a:srgbClr val="FFFFFF"/>
              </a:solidFill>
            </a:endParaRPr>
          </a:p>
        </p:txBody>
      </p:sp>
      <p:sp>
        <p:nvSpPr>
          <p:cNvPr id="286" name="Google Shape;286;p36"/>
          <p:cNvSpPr txBox="1"/>
          <p:nvPr/>
        </p:nvSpPr>
        <p:spPr>
          <a:xfrm>
            <a:off x="508000" y="1333500"/>
            <a:ext cx="81279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>
                <a:solidFill>
                  <a:srgbClr val="94A3B8"/>
                </a:solidFill>
              </a:rPr>
              <a:t>Stop met zoeken zoals in Google • Start met regisseren als een opdrachtgever</a:t>
            </a:r>
            <a:endParaRPr sz="1300">
              <a:solidFill>
                <a:srgbClr val="94A3B8"/>
              </a:solidFill>
            </a:endParaRPr>
          </a:p>
        </p:txBody>
      </p:sp>
      <p:sp>
        <p:nvSpPr>
          <p:cNvPr id="287" name="Google Shape;287;p36"/>
          <p:cNvSpPr/>
          <p:nvPr/>
        </p:nvSpPr>
        <p:spPr>
          <a:xfrm>
            <a:off x="508000" y="1714500"/>
            <a:ext cx="1905000" cy="17781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300">
                <a:solidFill>
                  <a:srgbClr val="FFFFFF"/>
                </a:solidFill>
              </a:rPr>
              <a:t>👤 R - Rol</a:t>
            </a:r>
            <a:endParaRPr b="1" sz="13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Geef de AI een persona:</a:t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"Je bent een ervaren eindredacteur" of "Je bent een geduldige coach."</a:t>
            </a:r>
            <a:endParaRPr sz="1100">
              <a:solidFill>
                <a:srgbClr val="CBD5E1"/>
              </a:solidFill>
            </a:endParaRPr>
          </a:p>
        </p:txBody>
      </p:sp>
      <p:sp>
        <p:nvSpPr>
          <p:cNvPr id="288" name="Google Shape;288;p36"/>
          <p:cNvSpPr/>
          <p:nvPr/>
        </p:nvSpPr>
        <p:spPr>
          <a:xfrm>
            <a:off x="2578100" y="1714500"/>
            <a:ext cx="1905000" cy="17781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300">
                <a:solidFill>
                  <a:srgbClr val="FFFFFF"/>
                </a:solidFill>
              </a:rPr>
              <a:t>📍 C - Context</a:t>
            </a:r>
            <a:endParaRPr b="1" sz="13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Geef de situatie mee:</a:t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"Dit is voor een vereniging met veel 65-plussers die de mail ontvangen."</a:t>
            </a:r>
            <a:endParaRPr sz="1100">
              <a:solidFill>
                <a:srgbClr val="CBD5E1"/>
              </a:solidFill>
            </a:endParaRPr>
          </a:p>
        </p:txBody>
      </p:sp>
      <p:sp>
        <p:nvSpPr>
          <p:cNvPr id="289" name="Google Shape;289;p36"/>
          <p:cNvSpPr/>
          <p:nvPr/>
        </p:nvSpPr>
        <p:spPr>
          <a:xfrm>
            <a:off x="4648200" y="1714500"/>
            <a:ext cx="1905000" cy="17781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300">
                <a:solidFill>
                  <a:srgbClr val="FFFFFF"/>
                </a:solidFill>
              </a:rPr>
              <a:t>🎯 T - Taak</a:t>
            </a:r>
            <a:endParaRPr b="1" sz="13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Omschrijf de actie:</a:t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"Herschrijf deze brief zodat de toon warm, helder en uitnodigend is."</a:t>
            </a:r>
            <a:endParaRPr sz="1100">
              <a:solidFill>
                <a:srgbClr val="CBD5E1"/>
              </a:solidFill>
            </a:endParaRPr>
          </a:p>
        </p:txBody>
      </p:sp>
      <p:sp>
        <p:nvSpPr>
          <p:cNvPr id="290" name="Google Shape;290;p36"/>
          <p:cNvSpPr/>
          <p:nvPr/>
        </p:nvSpPr>
        <p:spPr>
          <a:xfrm>
            <a:off x="6718300" y="1714500"/>
            <a:ext cx="1905000" cy="17781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300">
                <a:solidFill>
                  <a:srgbClr val="FFFFFF"/>
                </a:solidFill>
              </a:rPr>
              <a:t>📏 K - Kaders</a:t>
            </a:r>
            <a:endParaRPr b="1" sz="13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Stel duidelijke grenzen:</a:t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"Max. 150 woorden, in 3 alinea's, geen vakjargon, puntsgewijs."</a:t>
            </a:r>
            <a:endParaRPr sz="1100">
              <a:solidFill>
                <a:srgbClr val="CBD5E1"/>
              </a:solidFill>
            </a:endParaRPr>
          </a:p>
        </p:txBody>
      </p:sp>
      <p:sp>
        <p:nvSpPr>
          <p:cNvPr id="291" name="Google Shape;291;p36"/>
          <p:cNvSpPr/>
          <p:nvPr/>
        </p:nvSpPr>
        <p:spPr>
          <a:xfrm>
            <a:off x="508000" y="3619500"/>
            <a:ext cx="8127900" cy="9525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90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200">
                <a:solidFill>
                  <a:srgbClr val="38BDF8"/>
                </a:solidFill>
              </a:rPr>
              <a:t>💡 Waarom dit zo goed werkt</a:t>
            </a:r>
            <a:endParaRPr b="1" sz="1200">
              <a:solidFill>
                <a:srgbClr val="38BDF8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Herinner je de theorie: AI voorspelt woorden op basis van context. Hoe specifieker jouw RCTK-kader, hoe verbluffender het resultaat!</a:t>
            </a:r>
            <a:endParaRPr sz="1100">
              <a:solidFill>
                <a:srgbClr val="CBD5E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7"/>
          <p:cNvSpPr txBox="1"/>
          <p:nvPr/>
        </p:nvSpPr>
        <p:spPr>
          <a:xfrm>
            <a:off x="508000" y="381000"/>
            <a:ext cx="50799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100">
                <a:solidFill>
                  <a:srgbClr val="34D399"/>
                </a:solidFill>
              </a:rPr>
              <a:t>💻 ZELF ACHTER DE KNOPPEN</a:t>
            </a:r>
            <a:endParaRPr b="1" sz="1100">
              <a:solidFill>
                <a:srgbClr val="34D399"/>
              </a:solidFill>
            </a:endParaRPr>
          </a:p>
        </p:txBody>
      </p:sp>
      <p:sp>
        <p:nvSpPr>
          <p:cNvPr id="297" name="Google Shape;297;p37"/>
          <p:cNvSpPr txBox="1"/>
          <p:nvPr/>
        </p:nvSpPr>
        <p:spPr>
          <a:xfrm>
            <a:off x="508000" y="698500"/>
            <a:ext cx="81279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3400">
                <a:solidFill>
                  <a:srgbClr val="FFFFFF"/>
                </a:solidFill>
              </a:rPr>
              <a:t>Aan de Slag: Drie Praktijkoefeningen</a:t>
            </a:r>
            <a:endParaRPr b="1" sz="3400">
              <a:solidFill>
                <a:srgbClr val="FFFFFF"/>
              </a:solidFill>
            </a:endParaRPr>
          </a:p>
        </p:txBody>
      </p:sp>
      <p:sp>
        <p:nvSpPr>
          <p:cNvPr id="298" name="Google Shape;298;p37"/>
          <p:cNvSpPr txBox="1"/>
          <p:nvPr/>
        </p:nvSpPr>
        <p:spPr>
          <a:xfrm>
            <a:off x="508000" y="1333500"/>
            <a:ext cx="81279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>
                <a:solidFill>
                  <a:srgbClr val="94A3B8"/>
                </a:solidFill>
              </a:rPr>
              <a:t>Open je laptop of tablet • Start ChatGPT, Gemini of Copilot</a:t>
            </a:r>
            <a:endParaRPr sz="1300">
              <a:solidFill>
                <a:srgbClr val="94A3B8"/>
              </a:solidFill>
            </a:endParaRPr>
          </a:p>
        </p:txBody>
      </p:sp>
      <p:sp>
        <p:nvSpPr>
          <p:cNvPr id="299" name="Google Shape;299;p37"/>
          <p:cNvSpPr/>
          <p:nvPr/>
        </p:nvSpPr>
        <p:spPr>
          <a:xfrm>
            <a:off x="508000" y="1714500"/>
            <a:ext cx="2540100" cy="27939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300">
                <a:solidFill>
                  <a:srgbClr val="FFFFFF"/>
                </a:solidFill>
              </a:rPr>
              <a:t>✍️ Oefening 1: Herschrijven</a:t>
            </a:r>
            <a:endParaRPr b="1" sz="13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• Pak een formele, stugge brief of e-mail</a:t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• Vraag de AI: "Herschrijf deze mail met een warme, uitnodigende toon voor een verenigingslid"</a:t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• Verfijn het resultaat met een vervolgvraag ("Maak het korter!")</a:t>
            </a:r>
            <a:endParaRPr sz="1100">
              <a:solidFill>
                <a:srgbClr val="CBD5E1"/>
              </a:solidFill>
            </a:endParaRPr>
          </a:p>
        </p:txBody>
      </p:sp>
      <p:sp>
        <p:nvSpPr>
          <p:cNvPr id="300" name="Google Shape;300;p37"/>
          <p:cNvSpPr/>
          <p:nvPr/>
        </p:nvSpPr>
        <p:spPr>
          <a:xfrm>
            <a:off x="3302000" y="1714500"/>
            <a:ext cx="2540100" cy="27939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300">
                <a:solidFill>
                  <a:srgbClr val="FFFFFF"/>
                </a:solidFill>
              </a:rPr>
              <a:t>📑 Oefening 2: Samenvatten</a:t>
            </a:r>
            <a:endParaRPr b="1" sz="13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• Plak een lang artikel of verslag in het chatvenster</a:t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• Vraag om: 1) Kernboodschap in 2 zinnen, 2) De 3 belangrijkste besluiten</a:t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• Geef een kader mee: "In maximaal 100 woorden"</a:t>
            </a:r>
            <a:endParaRPr sz="1100">
              <a:solidFill>
                <a:srgbClr val="CBD5E1"/>
              </a:solidFill>
            </a:endParaRPr>
          </a:p>
        </p:txBody>
      </p:sp>
      <p:sp>
        <p:nvSpPr>
          <p:cNvPr id="301" name="Google Shape;301;p37"/>
          <p:cNvSpPr/>
          <p:nvPr/>
        </p:nvSpPr>
        <p:spPr>
          <a:xfrm>
            <a:off x="6096000" y="1714500"/>
            <a:ext cx="2540100" cy="27939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300">
                <a:solidFill>
                  <a:srgbClr val="FFFFFF"/>
                </a:solidFill>
              </a:rPr>
              <a:t>📊 Oefening 3: Tabellen</a:t>
            </a:r>
            <a:endParaRPr b="1" sz="13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• Vraag om een actielijst of taakverdeling</a:t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• Prompt: "Zet de uitkomst in een tabel met kolommen: Wie, Wat, Wanneer"</a:t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CBD5E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CBD5E1"/>
                </a:solidFill>
              </a:rPr>
              <a:t>• Selecteer de tabel en plak hem direct in Word of Excel!</a:t>
            </a:r>
            <a:endParaRPr sz="1100">
              <a:solidFill>
                <a:srgbClr val="CBD5E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